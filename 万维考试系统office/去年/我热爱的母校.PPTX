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a" ContentType="audio/x-ms-wma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430" r:id="rId3"/>
    <p:sldId id="433" r:id="rId4"/>
    <p:sldId id="431" r:id="rId5"/>
    <p:sldId id="437" r:id="rId6"/>
    <p:sldId id="438" r:id="rId7"/>
    <p:sldId id="441" r:id="rId8"/>
    <p:sldId id="435" r:id="rId9"/>
    <p:sldId id="436" r:id="rId10"/>
    <p:sldId id="440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EC4"/>
    <a:srgbClr val="000000"/>
    <a:srgbClr val="00AB39"/>
    <a:srgbClr val="990099"/>
    <a:srgbClr val="C0C0C0"/>
    <a:srgbClr val="2A684C"/>
    <a:srgbClr val="CFD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17" autoAdjust="0"/>
    <p:restoredTop sz="86339" autoAdjust="0"/>
  </p:normalViewPr>
  <p:slideViewPr>
    <p:cSldViewPr>
      <p:cViewPr varScale="1">
        <p:scale>
          <a:sx n="71" d="100"/>
          <a:sy n="71" d="100"/>
        </p:scale>
        <p:origin x="-112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6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7D264-EB0F-4D0B-AE54-DCE1F4F8D2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768B1D0-044A-4E07-A629-ADF0DD6A03BF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noFill/>
        <a:ln>
          <a:solidFill>
            <a:schemeClr val="bg1"/>
          </a:solidFill>
        </a:ln>
      </dgm:spPr>
      <dgm:t>
        <a:bodyPr/>
        <a:lstStyle/>
        <a:p>
          <a:pPr rtl="0"/>
          <a:r>
            <a:rPr lang="zh-CN" altLang="en-US" sz="2800" b="1" dirty="0" smtClean="0">
              <a:latin typeface="宋体" pitchFamily="2" charset="-122"/>
              <a:ea typeface="宋体" pitchFamily="2" charset="-122"/>
            </a:rPr>
            <a:t>业精于勤而荒于嬉，行成于思而毁于随</a:t>
          </a:r>
          <a:endParaRPr lang="zh-CN" altLang="en-US" sz="2800" b="1" dirty="0">
            <a:latin typeface="宋体" pitchFamily="2" charset="-122"/>
            <a:ea typeface="宋体" pitchFamily="2" charset="-122"/>
          </a:endParaRPr>
        </a:p>
      </dgm:t>
    </dgm:pt>
    <dgm:pt modelId="{5DFCD16F-1AEC-4EDE-A81B-BE4EDD4E4D97}" type="parTrans" cxnId="{F1E9B4ED-E06F-42DB-BC0C-49129AC99AE7}">
      <dgm:prSet/>
      <dgm:spPr/>
      <dgm:t>
        <a:bodyPr/>
        <a:lstStyle/>
        <a:p>
          <a:endParaRPr lang="zh-CN" altLang="en-US"/>
        </a:p>
      </dgm:t>
    </dgm:pt>
    <dgm:pt modelId="{4A6D7A5A-3855-4FFE-B6D9-FE201E7EF6F2}" type="sibTrans" cxnId="{F1E9B4ED-E06F-42DB-BC0C-49129AC99AE7}">
      <dgm:prSet/>
      <dgm:spPr/>
      <dgm:t>
        <a:bodyPr/>
        <a:lstStyle/>
        <a:p>
          <a:endParaRPr lang="zh-CN" altLang="en-US"/>
        </a:p>
      </dgm:t>
    </dgm:pt>
    <dgm:pt modelId="{ACB7CC36-9663-49BD-B0C3-61DB381DD873}" type="pres">
      <dgm:prSet presAssocID="{6787D264-EB0F-4D0B-AE54-DCE1F4F8D26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31D73EE-502A-4EED-82C4-A4EC4F549981}" type="pres">
      <dgm:prSet presAssocID="{2768B1D0-044A-4E07-A629-ADF0DD6A03BF}" presName="parentText" presStyleLbl="node1" presStyleIdx="0" presStyleCnt="1" custLinFactNeighborY="-7567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6384DA4-1482-4E77-8D6A-5DF31E10A1A7}" type="presOf" srcId="{2768B1D0-044A-4E07-A629-ADF0DD6A03BF}" destId="{431D73EE-502A-4EED-82C4-A4EC4F549981}" srcOrd="0" destOrd="0" presId="urn:microsoft.com/office/officeart/2005/8/layout/vList2"/>
    <dgm:cxn modelId="{F1E9B4ED-E06F-42DB-BC0C-49129AC99AE7}" srcId="{6787D264-EB0F-4D0B-AE54-DCE1F4F8D26E}" destId="{2768B1D0-044A-4E07-A629-ADF0DD6A03BF}" srcOrd="0" destOrd="0" parTransId="{5DFCD16F-1AEC-4EDE-A81B-BE4EDD4E4D97}" sibTransId="{4A6D7A5A-3855-4FFE-B6D9-FE201E7EF6F2}"/>
    <dgm:cxn modelId="{F1F1F06B-E465-472E-8644-4F024D49DEF5}" type="presOf" srcId="{6787D264-EB0F-4D0B-AE54-DCE1F4F8D26E}" destId="{ACB7CC36-9663-49BD-B0C3-61DB381DD873}" srcOrd="0" destOrd="0" presId="urn:microsoft.com/office/officeart/2005/8/layout/vList2"/>
    <dgm:cxn modelId="{381C0BA0-7982-4E7A-A6A7-2443C4012297}" type="presParOf" srcId="{ACB7CC36-9663-49BD-B0C3-61DB381DD873}" destId="{431D73EE-502A-4EED-82C4-A4EC4F549981}" srcOrd="0" destOrd="0" presId="urn:microsoft.com/office/officeart/2005/8/layout/vList2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BC95A5-7C99-4335-8CAE-3D2BDC2222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33951F7-5841-4A83-AF31-734FF06E686A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pPr rtl="0"/>
          <a:r>
            <a:rPr lang="zh-CN" altLang="en-US" sz="2800" b="1" dirty="0" smtClean="0">
              <a:latin typeface="宋体" pitchFamily="2" charset="-122"/>
              <a:ea typeface="宋体" pitchFamily="2" charset="-122"/>
            </a:rPr>
            <a:t>成功＝艰苦劳动＋正确方法＋少说空话</a:t>
          </a:r>
          <a:endParaRPr lang="zh-CN" altLang="en-US" sz="2800" b="1" dirty="0">
            <a:latin typeface="宋体" pitchFamily="2" charset="-122"/>
            <a:ea typeface="宋体" pitchFamily="2" charset="-122"/>
          </a:endParaRPr>
        </a:p>
      </dgm:t>
    </dgm:pt>
    <dgm:pt modelId="{87137BB5-EBDE-40EA-952E-B57CDD1CF2F2}" type="parTrans" cxnId="{A8CCE2A3-7073-469D-9977-3142D53418DD}">
      <dgm:prSet/>
      <dgm:spPr/>
      <dgm:t>
        <a:bodyPr/>
        <a:lstStyle/>
        <a:p>
          <a:endParaRPr lang="zh-CN" altLang="en-US" sz="2800" b="1">
            <a:latin typeface="宋体" pitchFamily="2" charset="-122"/>
            <a:ea typeface="宋体" pitchFamily="2" charset="-122"/>
          </a:endParaRPr>
        </a:p>
      </dgm:t>
    </dgm:pt>
    <dgm:pt modelId="{642C23D9-CE46-4CBD-B4D0-90EDB2E12E22}" type="sibTrans" cxnId="{A8CCE2A3-7073-469D-9977-3142D53418DD}">
      <dgm:prSet/>
      <dgm:spPr/>
      <dgm:t>
        <a:bodyPr/>
        <a:lstStyle/>
        <a:p>
          <a:endParaRPr lang="zh-CN" altLang="en-US" sz="2800" b="1">
            <a:latin typeface="宋体" pitchFamily="2" charset="-122"/>
            <a:ea typeface="宋体" pitchFamily="2" charset="-122"/>
          </a:endParaRPr>
        </a:p>
      </dgm:t>
    </dgm:pt>
    <dgm:pt modelId="{865C326E-DBC8-4D36-B786-DD26FF698148}" type="pres">
      <dgm:prSet presAssocID="{A3BC95A5-7C99-4335-8CAE-3D2BDC22223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D3BC8C9-666B-45ED-B1A0-411031B8F9B8}" type="pres">
      <dgm:prSet presAssocID="{733951F7-5841-4A83-AF31-734FF06E686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30F4EBC-E16A-430B-BE22-2BEE9E8A6F7B}" type="presOf" srcId="{A3BC95A5-7C99-4335-8CAE-3D2BDC22223E}" destId="{865C326E-DBC8-4D36-B786-DD26FF698148}" srcOrd="0" destOrd="0" presId="urn:microsoft.com/office/officeart/2005/8/layout/vList2"/>
    <dgm:cxn modelId="{BB890ED0-5EA2-446C-BDB4-DD859608BA5F}" type="presOf" srcId="{733951F7-5841-4A83-AF31-734FF06E686A}" destId="{3D3BC8C9-666B-45ED-B1A0-411031B8F9B8}" srcOrd="0" destOrd="0" presId="urn:microsoft.com/office/officeart/2005/8/layout/vList2"/>
    <dgm:cxn modelId="{A8CCE2A3-7073-469D-9977-3142D53418DD}" srcId="{A3BC95A5-7C99-4335-8CAE-3D2BDC22223E}" destId="{733951F7-5841-4A83-AF31-734FF06E686A}" srcOrd="0" destOrd="0" parTransId="{87137BB5-EBDE-40EA-952E-B57CDD1CF2F2}" sibTransId="{642C23D9-CE46-4CBD-B4D0-90EDB2E12E22}"/>
    <dgm:cxn modelId="{A2BBED96-9619-41FB-8EF3-A26F5C0D9CD4}" type="presParOf" srcId="{865C326E-DBC8-4D36-B786-DD26FF698148}" destId="{3D3BC8C9-666B-45ED-B1A0-411031B8F9B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D73EE-502A-4EED-82C4-A4EC4F549981}">
      <dsp:nvSpPr>
        <dsp:cNvPr id="0" name=""/>
        <dsp:cNvSpPr/>
      </dsp:nvSpPr>
      <dsp:spPr>
        <a:xfrm>
          <a:off x="0" y="0"/>
          <a:ext cx="7488832" cy="936000"/>
        </a:xfrm>
        <a:prstGeom prst="roundRect">
          <a:avLst/>
        </a:pr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宋体" pitchFamily="2" charset="-122"/>
              <a:ea typeface="宋体" pitchFamily="2" charset="-122"/>
            </a:rPr>
            <a:t>业精于勤而荒于嬉，行成于思而毁于随</a:t>
          </a:r>
          <a:endParaRPr lang="zh-CN" altLang="en-US" sz="2800" b="1" kern="1200" dirty="0">
            <a:latin typeface="宋体" pitchFamily="2" charset="-122"/>
            <a:ea typeface="宋体" pitchFamily="2" charset="-122"/>
          </a:endParaRPr>
        </a:p>
      </dsp:txBody>
      <dsp:txXfrm>
        <a:off x="45692" y="45692"/>
        <a:ext cx="7397448" cy="844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BC8C9-666B-45ED-B1A0-411031B8F9B8}">
      <dsp:nvSpPr>
        <dsp:cNvPr id="0" name=""/>
        <dsp:cNvSpPr/>
      </dsp:nvSpPr>
      <dsp:spPr>
        <a:xfrm>
          <a:off x="0" y="1715"/>
          <a:ext cx="7488832" cy="823680"/>
        </a:xfrm>
        <a:prstGeom prst="round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宋体" pitchFamily="2" charset="-122"/>
              <a:ea typeface="宋体" pitchFamily="2" charset="-122"/>
            </a:rPr>
            <a:t>成功＝艰苦劳动＋正确方法＋少说空话</a:t>
          </a:r>
          <a:endParaRPr lang="zh-CN" altLang="en-US" sz="2800" b="1" kern="1200" dirty="0">
            <a:latin typeface="宋体" pitchFamily="2" charset="-122"/>
            <a:ea typeface="宋体" pitchFamily="2" charset="-122"/>
          </a:endParaRPr>
        </a:p>
      </dsp:txBody>
      <dsp:txXfrm>
        <a:off x="40209" y="41924"/>
        <a:ext cx="7408414" cy="743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4C6FF-E35B-4709-AB8A-52436A2E1A10}" type="datetimeFigureOut">
              <a:rPr lang="zh-CN" altLang="en-US" smtClean="0"/>
              <a:pPr/>
              <a:t>2018/11/13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8F3DD-5F71-4F01-8C7C-C95A23A92C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758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204803" name="矩形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04" name="矩形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05" name="矩形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4806" name="矩形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07" name="矩形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7B13C91-A878-4ABB-B7B3-9A2B7A7351E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47821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13C91-A878-4ABB-B7B3-9A2B7A7351ED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581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13C91-A878-4ABB-B7B3-9A2B7A7351ED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2143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13C91-A878-4ABB-B7B3-9A2B7A7351ED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2154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13C91-A878-4ABB-B7B3-9A2B7A7351ED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8359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矩形 17" descr="a1"/>
          <p:cNvSpPr>
            <a:spLocks noChangeArrowheads="1"/>
          </p:cNvSpPr>
          <p:nvPr/>
        </p:nvSpPr>
        <p:spPr bwMode="gray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0" name="矩形 18"/>
          <p:cNvSpPr>
            <a:spLocks noChangeArrowheads="1"/>
          </p:cNvSpPr>
          <p:nvPr/>
        </p:nvSpPr>
        <p:spPr bwMode="gray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1" name="矩形 19"/>
          <p:cNvSpPr>
            <a:spLocks noChangeArrowheads="1"/>
          </p:cNvSpPr>
          <p:nvPr/>
        </p:nvSpPr>
        <p:spPr bwMode="gray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" name="矩形 20" descr="a2"/>
          <p:cNvSpPr>
            <a:spLocks noChangeArrowheads="1"/>
          </p:cNvSpPr>
          <p:nvPr/>
        </p:nvSpPr>
        <p:spPr bwMode="gray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3" name="矩形 21"/>
          <p:cNvSpPr>
            <a:spLocks noChangeArrowheads="1"/>
          </p:cNvSpPr>
          <p:nvPr/>
        </p:nvSpPr>
        <p:spPr bwMode="gray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4" name="矩形 22"/>
          <p:cNvSpPr>
            <a:spLocks noChangeArrowheads="1"/>
          </p:cNvSpPr>
          <p:nvPr/>
        </p:nvSpPr>
        <p:spPr bwMode="gray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矩形 2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</a:p>
        </p:txBody>
      </p:sp>
      <p:sp>
        <p:nvSpPr>
          <p:cNvPr id="3075" name="矩形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>
                <a:latin typeface="Verdana" pitchFamily="34" charset="0"/>
              </a:defRPr>
            </a:lvl1pPr>
          </a:lstStyle>
          <a:p>
            <a:pPr lvl="0"/>
            <a:r>
              <a:rPr lang="zh-CN" altLang="en-US" noProof="0" dirty="0" smtClean="0"/>
              <a:t>单击此处编辑母版副标题样式</a:t>
            </a:r>
          </a:p>
        </p:txBody>
      </p:sp>
      <p:sp>
        <p:nvSpPr>
          <p:cNvPr id="3076" name="矩形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551613"/>
            <a:ext cx="2133600" cy="169862"/>
          </a:xfr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zh-CN" altLang="en-US" sz="1200" kern="1200" baseline="0" smtClean="0">
                <a:solidFill>
                  <a:schemeClr val="tx1"/>
                </a:solidFill>
                <a:effectLst/>
                <a:latin typeface="(使用中文字体)"/>
                <a:ea typeface="宋体" pitchFamily="2" charset="-122"/>
                <a:cs typeface="+mn-cs"/>
              </a:defRPr>
            </a:lvl1pPr>
          </a:lstStyle>
          <a:p>
            <a:fld id="{92F3BE99-4749-443D-AEE6-F543483C54AF}" type="datetime1">
              <a:rPr lang="en-US" altLang="zh-CN" smtClean="0">
                <a:latin typeface="宋体"/>
              </a:rPr>
              <a:pPr/>
              <a:t>11/13/2018</a:t>
            </a:fld>
            <a:endParaRPr lang="en-US" dirty="0">
              <a:latin typeface="宋体"/>
            </a:endParaRPr>
          </a:p>
        </p:txBody>
      </p:sp>
      <p:sp>
        <p:nvSpPr>
          <p:cNvPr id="3077" name="矩形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553200"/>
            <a:ext cx="2895600" cy="168275"/>
          </a:xfrm>
        </p:spPr>
        <p:txBody>
          <a:bodyPr/>
          <a:lstStyle>
            <a:lvl1pPr algn="ctr">
              <a:defRPr>
                <a:effectLst/>
                <a:latin typeface="+mn-lt"/>
              </a:defRPr>
            </a:lvl1pPr>
          </a:lstStyle>
          <a:p>
            <a:r>
              <a:rPr lang="en-US" altLang="zh-CN" dirty="0" smtClean="0"/>
              <a:t>www.swpu.edu.cn</a:t>
            </a:r>
            <a:endParaRPr lang="en-US" altLang="zh-CN" dirty="0"/>
          </a:p>
        </p:txBody>
      </p:sp>
      <p:sp>
        <p:nvSpPr>
          <p:cNvPr id="3078" name="矩形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553200"/>
            <a:ext cx="2133600" cy="168275"/>
          </a:xfrm>
        </p:spPr>
        <p:txBody>
          <a:bodyPr/>
          <a:lstStyle>
            <a:lvl1pPr algn="r">
              <a:defRPr>
                <a:effectLst/>
                <a:latin typeface="+mn-lt"/>
              </a:defRPr>
            </a:lvl1pPr>
          </a:lstStyle>
          <a:p>
            <a:fld id="{3D28B8B9-51D7-4BBC-B687-4C15B8973B2D}" type="slidenum">
              <a:rPr lang="zh-CN" altLang="en-US"/>
              <a:pPr/>
              <a:t>‹#›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938347"/>
            <a:ext cx="2198492" cy="2193096"/>
          </a:xfrm>
          <a:prstGeom prst="ellipse">
            <a:avLst/>
          </a:prstGeom>
          <a:ln w="19050" cap="rnd">
            <a:solidFill>
              <a:schemeClr val="accent5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extBox 2"/>
          <p:cNvSpPr txBox="1"/>
          <p:nvPr userDrawn="1"/>
        </p:nvSpPr>
        <p:spPr>
          <a:xfrm>
            <a:off x="6909385" y="178497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舒体" pitchFamily="2" charset="-122"/>
                <a:ea typeface="方正舒体" pitchFamily="2" charset="-122"/>
              </a:rPr>
              <a:t>明德笃志，博学创新</a:t>
            </a:r>
            <a:endParaRPr lang="zh-CN" altLang="en-US" sz="1600" dirty="0">
              <a:solidFill>
                <a:schemeClr val="bg1"/>
              </a:solidFill>
              <a:latin typeface="方正舒体" pitchFamily="2" charset="-122"/>
              <a:ea typeface="方正舒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EBE5B9E-3D8E-46AE-B7C7-871910B5E31A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15068C-B50A-477B-89E0-173D72DF3F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2652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78B98-A01C-4744-8827-80813D431C16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AD7489-DB13-4A67-B7B4-C1A8B437CE7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5562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C564DA-8531-4434-8EEC-CD0DBC5F2C47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B0813-E0C9-4CB5-B30B-C3CE9656EC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45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FF9CFA-BE52-49E4-A3FF-8C686E74FB24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044F7-EA7B-41F8-AF66-EF5E0415304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6039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B23089-5BCF-48AB-8539-EC76B81DD2E3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 smtClean="0"/>
              <a:t>www.swpu.edu.cn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00C8B8-74D2-40C5-9FC6-3CC4DFE6D83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806855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8DC92A-1E5A-4BA1-9C94-DEC334F24365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34605A-4D7A-49A7-888B-B04E6CC74C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557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338D58-004A-4000-8ADD-6AF7CD085F70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12C0CC-F40E-4EB5-91CA-86B7C80A45F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3991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DFB1B4-B173-463B-A6F6-46ED6F9B68AF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A035A-5B9A-473D-9A4C-4873163531A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800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FFA4DF-53D8-4F8E-9E26-F0E476CFDDCC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1DEA90-D945-4753-B5DA-542ECB98A75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5709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8A29E9-072D-4CDE-A27F-E8F9D3594450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8DB60-5D0F-4290-AB98-FA418C7F3B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81847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46918F17-B5B8-4283-966B-6BB72C9EBB5B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6405CFA1-6116-4307-B466-5CCBFCC6547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223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E537759A-3C81-4121-B196-C036F982F82F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B57F9A1D-1B29-4F83-9495-7FAE6E2D5A6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62189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4206D1C8-8141-4C56-ACD7-6D5CAFD773E7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EA0F56E5-A9D2-4E6F-B279-CBCB4626AF3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6969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9C0ADD10-53B3-4C9F-BEF2-34D5AD2DB850}" type="datetime1">
              <a:rPr lang="zh-CN" altLang="en-US" smtClean="0"/>
              <a:pPr/>
              <a:t>2018/11/13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1E0F2EAD-4E31-4D07-AD6B-3205D524049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4338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矩形 23" descr="a1"/>
          <p:cNvSpPr>
            <a:spLocks noChangeArrowheads="1"/>
          </p:cNvSpPr>
          <p:nvPr/>
        </p:nvSpPr>
        <p:spPr bwMode="gray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7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矩形 24"/>
          <p:cNvSpPr>
            <a:spLocks noChangeArrowheads="1"/>
          </p:cNvSpPr>
          <p:nvPr/>
        </p:nvSpPr>
        <p:spPr bwMode="gray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矩形 25" descr="a2"/>
          <p:cNvSpPr>
            <a:spLocks noChangeArrowheads="1"/>
          </p:cNvSpPr>
          <p:nvPr/>
        </p:nvSpPr>
        <p:spPr bwMode="gray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8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0" name="矩形 26"/>
          <p:cNvSpPr>
            <a:spLocks noChangeArrowheads="1"/>
          </p:cNvSpPr>
          <p:nvPr/>
        </p:nvSpPr>
        <p:spPr bwMode="gray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" name="矩形 30"/>
          <p:cNvSpPr>
            <a:spLocks noChangeArrowheads="1"/>
          </p:cNvSpPr>
          <p:nvPr userDrawn="1"/>
        </p:nvSpPr>
        <p:spPr bwMode="gray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51" name="组合 27"/>
          <p:cNvGrpSpPr>
            <a:grpSpLocks/>
          </p:cNvGrpSpPr>
          <p:nvPr/>
        </p:nvGrpSpPr>
        <p:grpSpPr bwMode="auto">
          <a:xfrm>
            <a:off x="0" y="685800"/>
            <a:ext cx="9144000" cy="609600"/>
            <a:chOff x="0" y="432"/>
            <a:chExt cx="5760" cy="384"/>
          </a:xfrm>
        </p:grpSpPr>
        <p:sp>
          <p:nvSpPr>
            <p:cNvPr id="1052" name="矩形 28"/>
            <p:cNvSpPr>
              <a:spLocks noChangeArrowheads="1"/>
            </p:cNvSpPr>
            <p:nvPr userDrawn="1"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矩形 29"/>
            <p:cNvSpPr>
              <a:spLocks noChangeArrowheads="1"/>
            </p:cNvSpPr>
            <p:nvPr userDrawn="1"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7" name="矩形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矩形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effectLst>
                  <a:outerShdw blurRad="38100" dist="38100" dir="2700000" algn="tl">
                    <a:srgbClr val="C0C0C0"/>
                  </a:outerShdw>
                </a:effectLst>
                <a:latin typeface="(使用中文字体)"/>
                <a:ea typeface="宋体" pitchFamily="2" charset="-122"/>
              </a:defRPr>
            </a:lvl1pPr>
          </a:lstStyle>
          <a:p>
            <a:fld id="{A2A5E629-5B51-4EF4-B811-0A07C0F3A420}" type="datetime1">
              <a:rPr lang="zh-CN" altLang="en-US" smtClean="0">
                <a:latin typeface="宋体"/>
              </a:rPr>
              <a:pPr/>
              <a:t>2018/11/13</a:t>
            </a:fld>
            <a:endParaRPr lang="en-US" altLang="zh-CN" dirty="0">
              <a:latin typeface="宋体"/>
            </a:endParaRPr>
          </a:p>
        </p:txBody>
      </p:sp>
      <p:sp>
        <p:nvSpPr>
          <p:cNvPr id="1029" name="矩形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宋体" pitchFamily="2" charset="-122"/>
              </a:defRPr>
            </a:lvl1pPr>
          </a:lstStyle>
          <a:p>
            <a:r>
              <a:rPr lang="en-US" altLang="zh-CN" dirty="0" smtClean="0"/>
              <a:t>www.swpu.edu.cn</a:t>
            </a:r>
            <a:endParaRPr lang="en-US" altLang="zh-CN" dirty="0"/>
          </a:p>
        </p:txBody>
      </p:sp>
      <p:sp>
        <p:nvSpPr>
          <p:cNvPr id="1030" name="矩形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宋体" pitchFamily="2" charset="-122"/>
              </a:defRPr>
            </a:lvl1pPr>
          </a:lstStyle>
          <a:p>
            <a:fld id="{31987A69-6F55-412E-8E2F-9E9B80AF6EF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26" name="矩形 2"/>
          <p:cNvSpPr>
            <a:spLocks noGrp="1" noChangeArrowheads="1"/>
          </p:cNvSpPr>
          <p:nvPr>
            <p:ph type="title"/>
          </p:nvPr>
        </p:nvSpPr>
        <p:spPr bwMode="white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091883" y="178497"/>
            <a:ext cx="2407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舒体" pitchFamily="2" charset="-122"/>
                <a:ea typeface="方正舒体" pitchFamily="2" charset="-122"/>
              </a:rPr>
              <a:t>明德笃志，博学创新</a:t>
            </a:r>
            <a:endParaRPr lang="zh-CN" altLang="en-US" sz="1600" dirty="0">
              <a:solidFill>
                <a:schemeClr val="bg1"/>
              </a:solidFill>
              <a:latin typeface="方正舒体" pitchFamily="2" charset="-122"/>
              <a:ea typeface="方正舒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5" Type="http://schemas.microsoft.com/office/2007/relationships/hdphoto" Target="../media/hdphoto3.wdp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wmf"/><Relationship Id="rId5" Type="http://schemas.openxmlformats.org/officeDocument/2006/relationships/slide" Target="slide7.xml"/><Relationship Id="rId4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-920" y="0"/>
            <a:ext cx="9159268" cy="3717032"/>
          </a:xfrm>
          <a:prstGeom prst="roundRect">
            <a:avLst>
              <a:gd name="adj" fmla="val 8634"/>
            </a:avLst>
          </a:prstGeom>
          <a:solidFill>
            <a:srgbClr val="3B80AF">
              <a:alpha val="70000"/>
            </a:srgbClr>
          </a:solidFill>
          <a:ln w="3175">
            <a:solidFill>
              <a:srgbClr val="3B80A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flipV="1">
            <a:off x="4032250" y="3242962"/>
            <a:ext cx="0" cy="2130253"/>
          </a:xfrm>
          <a:prstGeom prst="line">
            <a:avLst/>
          </a:prstGeom>
          <a:ln w="3175"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115616" y="5055567"/>
            <a:ext cx="28358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宋体" pitchFamily="2" charset="-122"/>
              </a:rPr>
              <a:t>www.swpu.edu.cn</a:t>
            </a:r>
            <a:endParaRPr lang="en-GB" altLang="zh-CN" sz="2400" b="1" dirty="0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378056" y="5517232"/>
            <a:ext cx="357982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 smtClean="0">
                <a:latin typeface="宋体" pitchFamily="2" charset="-122"/>
                <a:ea typeface="宋体" pitchFamily="2" charset="-122"/>
              </a:rPr>
              <a:t>我热爱的母校</a:t>
            </a:r>
            <a:endParaRPr lang="en-GB" altLang="zh-CN" sz="44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Rectangle 21"/>
          <p:cNvSpPr>
            <a:spLocks noChangeArrowheads="1"/>
          </p:cNvSpPr>
          <p:nvPr/>
        </p:nvSpPr>
        <p:spPr bwMode="auto">
          <a:xfrm>
            <a:off x="4032250" y="2996952"/>
            <a:ext cx="4587875" cy="95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B80AF"/>
                    </a:gs>
                    <a:gs pos="100000">
                      <a:srgbClr val="5296C5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西 南 石 油 大 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学</a:t>
            </a:r>
            <a:endParaRPr lang="en-GB" altLang="zh-CN" sz="4400" b="1" dirty="0">
              <a:solidFill>
                <a:schemeClr val="bg1"/>
              </a:solidFill>
              <a:latin typeface="Arial Black" pitchFamily="34" charset="0"/>
              <a:ea typeface="宋体" charset="-122"/>
            </a:endParaRPr>
          </a:p>
        </p:txBody>
      </p:sp>
      <p:pic>
        <p:nvPicPr>
          <p:cNvPr id="2" name="飞翔（男女声合唱）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620688" y="1248916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 numSld="99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矩形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石 大 掠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影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3E5C-3C2F-4DE2-B4D2-F616AE60715A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3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www.swpu.edu.cn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C8B8-74D2-40C5-9FC6-3CC4DFE6D836}" type="slidenum">
              <a:rPr lang="zh-CN" altLang="en-US" smtClean="0"/>
              <a:pPr/>
              <a:t>2</a:t>
            </a:fld>
            <a:endParaRPr lang="en-US" altLang="zh-CN"/>
          </a:p>
        </p:txBody>
      </p:sp>
      <p:sp>
        <p:nvSpPr>
          <p:cNvPr id="264195" name="直线 3"/>
          <p:cNvSpPr>
            <a:spLocks noChangeShapeType="1"/>
          </p:cNvSpPr>
          <p:nvPr/>
        </p:nvSpPr>
        <p:spPr bwMode="gray">
          <a:xfrm flipH="1">
            <a:off x="0" y="6400800"/>
            <a:ext cx="2819400" cy="22860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196" name="直线 4"/>
          <p:cNvSpPr>
            <a:spLocks noChangeShapeType="1"/>
          </p:cNvSpPr>
          <p:nvPr/>
        </p:nvSpPr>
        <p:spPr bwMode="gray">
          <a:xfrm flipH="1">
            <a:off x="0" y="3962400"/>
            <a:ext cx="609600" cy="266700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197" name="自选图形 5"/>
          <p:cNvSpPr>
            <a:spLocks noChangeArrowheads="1"/>
          </p:cNvSpPr>
          <p:nvPr/>
        </p:nvSpPr>
        <p:spPr bwMode="gray">
          <a:xfrm>
            <a:off x="1614488" y="354330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72941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198" name="自选图形 6"/>
          <p:cNvSpPr>
            <a:spLocks noChangeArrowheads="1"/>
          </p:cNvSpPr>
          <p:nvPr/>
        </p:nvSpPr>
        <p:spPr bwMode="gray">
          <a:xfrm>
            <a:off x="2469396" y="426720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4118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199" name="自选图形 7"/>
          <p:cNvSpPr>
            <a:spLocks noChangeArrowheads="1"/>
          </p:cNvSpPr>
          <p:nvPr/>
        </p:nvSpPr>
        <p:spPr bwMode="gray">
          <a:xfrm>
            <a:off x="2908300" y="5330825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19216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00" name="直线 8"/>
          <p:cNvSpPr>
            <a:spLocks noChangeShapeType="1"/>
          </p:cNvSpPr>
          <p:nvPr/>
        </p:nvSpPr>
        <p:spPr bwMode="gray">
          <a:xfrm flipH="1">
            <a:off x="0" y="3751263"/>
            <a:ext cx="1665288" cy="2878137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201" name="直线 9"/>
          <p:cNvSpPr>
            <a:spLocks noChangeShapeType="1"/>
          </p:cNvSpPr>
          <p:nvPr/>
        </p:nvSpPr>
        <p:spPr bwMode="gray">
          <a:xfrm flipH="1">
            <a:off x="0" y="5481638"/>
            <a:ext cx="2895600" cy="1147762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202" name="直线 10"/>
          <p:cNvSpPr>
            <a:spLocks noChangeShapeType="1"/>
          </p:cNvSpPr>
          <p:nvPr/>
        </p:nvSpPr>
        <p:spPr bwMode="gray">
          <a:xfrm flipH="1">
            <a:off x="0" y="2243138"/>
            <a:ext cx="1866900" cy="4386262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203" name="直线 11"/>
          <p:cNvSpPr>
            <a:spLocks noChangeShapeType="1"/>
          </p:cNvSpPr>
          <p:nvPr/>
        </p:nvSpPr>
        <p:spPr bwMode="gray">
          <a:xfrm flipH="1">
            <a:off x="0" y="3570288"/>
            <a:ext cx="2309813" cy="3059112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204" name="直线 12"/>
          <p:cNvSpPr>
            <a:spLocks noChangeShapeType="1"/>
          </p:cNvSpPr>
          <p:nvPr/>
        </p:nvSpPr>
        <p:spPr bwMode="gray">
          <a:xfrm flipH="1">
            <a:off x="0" y="4837113"/>
            <a:ext cx="2846388" cy="1792287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205" name="直线 13"/>
          <p:cNvSpPr>
            <a:spLocks noChangeShapeType="1"/>
          </p:cNvSpPr>
          <p:nvPr/>
        </p:nvSpPr>
        <p:spPr bwMode="gray">
          <a:xfrm flipH="1">
            <a:off x="0" y="5883275"/>
            <a:ext cx="3867150" cy="746125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207" name="弧线 15"/>
          <p:cNvSpPr>
            <a:spLocks/>
          </p:cNvSpPr>
          <p:nvPr/>
        </p:nvSpPr>
        <p:spPr bwMode="gray">
          <a:xfrm>
            <a:off x="0" y="4645796"/>
            <a:ext cx="2274513" cy="223958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ln>
            <a:solidFill>
              <a:schemeClr val="accent1">
                <a:lumMod val="60000"/>
                <a:lumOff val="40000"/>
              </a:schemeClr>
            </a:solidFill>
          </a:ln>
          <a:ex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264208" name="直线 16"/>
          <p:cNvSpPr>
            <a:spLocks noChangeShapeType="1"/>
          </p:cNvSpPr>
          <p:nvPr/>
        </p:nvSpPr>
        <p:spPr bwMode="gray">
          <a:xfrm flipH="1">
            <a:off x="0" y="4437112"/>
            <a:ext cx="2514600" cy="2362199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/>
            <a:tailEnd/>
          </a:ln>
          <a:ex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64209" name="弧线 17"/>
          <p:cNvSpPr>
            <a:spLocks/>
          </p:cNvSpPr>
          <p:nvPr/>
        </p:nvSpPr>
        <p:spPr bwMode="gray">
          <a:xfrm>
            <a:off x="0" y="4743574"/>
            <a:ext cx="2182900" cy="214181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ln>
            <a:solidFill>
              <a:schemeClr val="accent1">
                <a:lumMod val="60000"/>
                <a:lumOff val="40000"/>
              </a:schemeClr>
            </a:solidFill>
          </a:ln>
          <a:ex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264210" name="弧线 18"/>
          <p:cNvSpPr>
            <a:spLocks/>
          </p:cNvSpPr>
          <p:nvPr/>
        </p:nvSpPr>
        <p:spPr bwMode="gray">
          <a:xfrm>
            <a:off x="22113" y="4776167"/>
            <a:ext cx="2127617" cy="2087489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ln>
            <a:solidFill>
              <a:schemeClr val="accent1">
                <a:lumMod val="60000"/>
                <a:lumOff val="40000"/>
              </a:schemeClr>
            </a:solidFill>
          </a:ln>
          <a:ex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264212" name="文本框 20"/>
          <p:cNvSpPr txBox="1">
            <a:spLocks noChangeArrowheads="1"/>
          </p:cNvSpPr>
          <p:nvPr/>
        </p:nvSpPr>
        <p:spPr bwMode="black">
          <a:xfrm>
            <a:off x="2368550" y="1371600"/>
            <a:ext cx="29479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Verdana" pitchFamily="34" charset="0"/>
                <a:ea typeface="宋体" pitchFamily="2" charset="-122"/>
                <a:cs typeface="Arial" charset="0"/>
              </a:rPr>
              <a:t>校园剪影</a:t>
            </a:r>
            <a:endParaRPr lang="en-US" altLang="zh-CN" sz="2800" b="1" dirty="0">
              <a:latin typeface="Verdan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264213" name="文本框 21"/>
          <p:cNvSpPr txBox="1">
            <a:spLocks noChangeArrowheads="1"/>
          </p:cNvSpPr>
          <p:nvPr/>
        </p:nvSpPr>
        <p:spPr bwMode="black">
          <a:xfrm>
            <a:off x="2908299" y="2743200"/>
            <a:ext cx="3463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名师风采</a:t>
            </a:r>
            <a:endParaRPr lang="en-US" altLang="zh-CN" sz="2800" b="1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264214" name="文本框 22"/>
          <p:cNvSpPr txBox="1">
            <a:spLocks noChangeArrowheads="1"/>
          </p:cNvSpPr>
          <p:nvPr/>
        </p:nvSpPr>
        <p:spPr bwMode="black">
          <a:xfrm>
            <a:off x="3424238" y="3962400"/>
            <a:ext cx="18923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莘莘学子</a:t>
            </a:r>
            <a:endParaRPr lang="en-US" altLang="zh-CN" sz="2800" b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264215" name="文本框 23"/>
          <p:cNvSpPr txBox="1">
            <a:spLocks noChangeArrowheads="1"/>
          </p:cNvSpPr>
          <p:nvPr/>
        </p:nvSpPr>
        <p:spPr bwMode="black">
          <a:xfrm>
            <a:off x="4479924" y="5105400"/>
            <a:ext cx="3188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多彩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生活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264216" name="自选图形 24"/>
          <p:cNvSpPr>
            <a:spLocks noChangeArrowheads="1"/>
          </p:cNvSpPr>
          <p:nvPr/>
        </p:nvSpPr>
        <p:spPr bwMode="gray">
          <a:xfrm>
            <a:off x="3825875" y="5492750"/>
            <a:ext cx="657225" cy="65722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50980"/>
                  <a:invGamma/>
                </a:schemeClr>
              </a:gs>
            </a:gsLst>
            <a:lin ang="5400000" scaled="1"/>
          </a:gradFill>
          <a:ln w="9525">
            <a:solidFill>
              <a:srgbClr val="FEFFFF"/>
            </a:solidFill>
            <a:round/>
            <a:headEnd/>
            <a:tailE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17" name="文本框 25"/>
          <p:cNvSpPr txBox="1">
            <a:spLocks noChangeArrowheads="1"/>
          </p:cNvSpPr>
          <p:nvPr/>
        </p:nvSpPr>
        <p:spPr bwMode="black">
          <a:xfrm>
            <a:off x="2843808" y="1876762"/>
            <a:ext cx="39893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 smtClean="0">
                <a:ea typeface="宋体" pitchFamily="2" charset="-122"/>
                <a:cs typeface="Arial" charset="0"/>
              </a:rPr>
              <a:t>美丽的校园风光</a:t>
            </a:r>
            <a:endParaRPr lang="en-US" altLang="zh-CN" sz="2400" b="1" dirty="0">
              <a:ea typeface="宋体" pitchFamily="2" charset="-122"/>
              <a:cs typeface="Arial" charset="0"/>
            </a:endParaRPr>
          </a:p>
        </p:txBody>
      </p:sp>
      <p:sp>
        <p:nvSpPr>
          <p:cNvPr id="264218" name="文本框 26"/>
          <p:cNvSpPr txBox="1">
            <a:spLocks noChangeArrowheads="1"/>
          </p:cNvSpPr>
          <p:nvPr/>
        </p:nvSpPr>
        <p:spPr bwMode="black">
          <a:xfrm>
            <a:off x="3411538" y="3193231"/>
            <a:ext cx="398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ea typeface="宋体" pitchFamily="2" charset="-122"/>
                <a:cs typeface="Arial" charset="0"/>
              </a:rPr>
              <a:t>雄厚的师资</a:t>
            </a:r>
            <a:r>
              <a:rPr lang="zh-CN" altLang="en-US" sz="2400" b="1" dirty="0" smtClean="0">
                <a:ea typeface="宋体" pitchFamily="2" charset="-122"/>
                <a:cs typeface="Arial" charset="0"/>
              </a:rPr>
              <a:t>力量</a:t>
            </a:r>
            <a:endParaRPr lang="en-US" altLang="zh-CN" sz="2400" b="1" dirty="0">
              <a:ea typeface="宋体" pitchFamily="2" charset="-122"/>
              <a:cs typeface="Arial" charset="0"/>
            </a:endParaRPr>
          </a:p>
        </p:txBody>
      </p:sp>
      <p:sp>
        <p:nvSpPr>
          <p:cNvPr id="264219" name="文本框 27"/>
          <p:cNvSpPr txBox="1">
            <a:spLocks noChangeArrowheads="1"/>
          </p:cNvSpPr>
          <p:nvPr/>
        </p:nvSpPr>
        <p:spPr bwMode="black">
          <a:xfrm>
            <a:off x="3995738" y="4479503"/>
            <a:ext cx="398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ea typeface="宋体" pitchFamily="2" charset="-122"/>
                <a:cs typeface="Arial" charset="0"/>
              </a:rPr>
              <a:t>学子的梦想</a:t>
            </a:r>
            <a:r>
              <a:rPr lang="zh-CN" altLang="en-US" sz="2400" b="1" dirty="0" smtClean="0">
                <a:ea typeface="宋体" pitchFamily="2" charset="-122"/>
                <a:cs typeface="Arial" charset="0"/>
              </a:rPr>
              <a:t>天堂</a:t>
            </a:r>
            <a:endParaRPr lang="en-US" altLang="zh-CN" sz="2400" b="1" dirty="0">
              <a:ea typeface="宋体" pitchFamily="2" charset="-122"/>
              <a:cs typeface="Arial" charset="0"/>
            </a:endParaRPr>
          </a:p>
        </p:txBody>
      </p:sp>
      <p:sp>
        <p:nvSpPr>
          <p:cNvPr id="264220" name="文本框 28"/>
          <p:cNvSpPr txBox="1">
            <a:spLocks noChangeArrowheads="1"/>
          </p:cNvSpPr>
          <p:nvPr/>
        </p:nvSpPr>
        <p:spPr bwMode="black">
          <a:xfrm>
            <a:off x="4860032" y="5575771"/>
            <a:ext cx="39893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ea typeface="宋体" pitchFamily="2" charset="-122"/>
                <a:cs typeface="Arial" charset="0"/>
              </a:rPr>
              <a:t>无悔的青春岁月</a:t>
            </a:r>
            <a:endParaRPr lang="en-US" altLang="zh-CN" sz="2400" b="1" dirty="0">
              <a:ea typeface="宋体" pitchFamily="2" charset="-122"/>
              <a:cs typeface="Arial" charset="0"/>
            </a:endParaRPr>
          </a:p>
        </p:txBody>
      </p:sp>
      <p:sp>
        <p:nvSpPr>
          <p:cNvPr id="264221" name="自选图形 29"/>
          <p:cNvSpPr>
            <a:spLocks noChangeArrowheads="1"/>
          </p:cNvSpPr>
          <p:nvPr/>
        </p:nvSpPr>
        <p:spPr bwMode="gray">
          <a:xfrm>
            <a:off x="1695450" y="1706563"/>
            <a:ext cx="657225" cy="65722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hlink">
                  <a:gamma/>
                  <a:tint val="20000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rgbClr val="FEFFFF"/>
            </a:solidFill>
            <a:round/>
            <a:headEnd/>
            <a:tailE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22" name="自选图形 30"/>
          <p:cNvSpPr>
            <a:spLocks noChangeArrowheads="1"/>
          </p:cNvSpPr>
          <p:nvPr/>
        </p:nvSpPr>
        <p:spPr bwMode="gray">
          <a:xfrm>
            <a:off x="2181225" y="3071813"/>
            <a:ext cx="657225" cy="65722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tint val="28627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rgbClr val="FEFFFF"/>
            </a:solidFill>
            <a:round/>
            <a:headEnd/>
            <a:tailE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23" name="自选图形 31"/>
          <p:cNvSpPr>
            <a:spLocks noChangeArrowheads="1"/>
          </p:cNvSpPr>
          <p:nvPr/>
        </p:nvSpPr>
        <p:spPr bwMode="gray">
          <a:xfrm>
            <a:off x="2776538" y="4383088"/>
            <a:ext cx="657225" cy="65722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79216"/>
                  <a:invGamma/>
                </a:schemeClr>
              </a:gs>
            </a:gsLst>
            <a:lin ang="5400000" scaled="1"/>
          </a:gradFill>
          <a:ln w="9525">
            <a:solidFill>
              <a:srgbClr val="FEFFFF"/>
            </a:solidFill>
            <a:round/>
            <a:headEnd/>
            <a:tailE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24" name="自选图形 32"/>
          <p:cNvSpPr>
            <a:spLocks noChangeArrowheads="1"/>
          </p:cNvSpPr>
          <p:nvPr/>
        </p:nvSpPr>
        <p:spPr bwMode="gray">
          <a:xfrm>
            <a:off x="534988" y="3732213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72941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25" name="自选图形 33"/>
          <p:cNvSpPr>
            <a:spLocks noChangeArrowheads="1"/>
          </p:cNvSpPr>
          <p:nvPr/>
        </p:nvSpPr>
        <p:spPr bwMode="gray">
          <a:xfrm>
            <a:off x="2843213" y="629920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19216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642" y="5039207"/>
            <a:ext cx="1756430" cy="1752119"/>
          </a:xfrm>
          <a:prstGeom prst="ellipse">
            <a:avLst/>
          </a:prstGeom>
          <a:ln w="9525" cap="rnd">
            <a:solidFill>
              <a:schemeClr val="accent5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4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750"/>
                            </p:stCondLst>
                            <p:childTnLst>
                              <p:par>
                                <p:cTn id="7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750"/>
                            </p:stCondLst>
                            <p:childTnLst>
                              <p:par>
                                <p:cTn id="8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750"/>
                            </p:stCondLst>
                            <p:childTnLst>
                              <p:par>
                                <p:cTn id="9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750"/>
                            </p:stCondLst>
                            <p:childTnLst>
                              <p:par>
                                <p:cTn id="10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animBg="1"/>
      <p:bldP spid="264196" grpId="0" animBg="1"/>
      <p:bldP spid="264197" grpId="0" animBg="1"/>
      <p:bldP spid="264198" grpId="0" animBg="1"/>
      <p:bldP spid="264199" grpId="0" animBg="1"/>
      <p:bldP spid="264200" grpId="0" animBg="1"/>
      <p:bldP spid="264201" grpId="0" animBg="1"/>
      <p:bldP spid="264202" grpId="0" animBg="1"/>
      <p:bldP spid="264203" grpId="0" animBg="1"/>
      <p:bldP spid="264204" grpId="0" animBg="1"/>
      <p:bldP spid="264205" grpId="0" animBg="1"/>
      <p:bldP spid="264208" grpId="0" animBg="1"/>
      <p:bldP spid="264212" grpId="0"/>
      <p:bldP spid="264213" grpId="0"/>
      <p:bldP spid="264214" grpId="0"/>
      <p:bldP spid="264215" grpId="0"/>
      <p:bldP spid="264216" grpId="0" animBg="1"/>
      <p:bldP spid="264217" grpId="0"/>
      <p:bldP spid="264218" grpId="0"/>
      <p:bldP spid="264219" grpId="0"/>
      <p:bldP spid="264220" grpId="0"/>
      <p:bldP spid="264221" grpId="0" animBg="1"/>
      <p:bldP spid="264222" grpId="0" animBg="1"/>
      <p:bldP spid="264223" grpId="0" animBg="1"/>
      <p:bldP spid="264224" grpId="0" animBg="1"/>
      <p:bldP spid="2642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Verdana" pitchFamily="34" charset="0"/>
                <a:ea typeface="宋体" pitchFamily="2" charset="-122"/>
                <a:cs typeface="Arial" charset="0"/>
              </a:rPr>
              <a:t>校园</a:t>
            </a:r>
            <a:r>
              <a:rPr lang="zh-CN" altLang="en-US" dirty="0" smtClean="0">
                <a:latin typeface="Verdana" pitchFamily="34" charset="0"/>
                <a:ea typeface="宋体" pitchFamily="2" charset="-122"/>
                <a:cs typeface="Arial" charset="0"/>
              </a:rPr>
              <a:t>剪影</a:t>
            </a:r>
            <a:r>
              <a:rPr lang="en-US" altLang="zh-CN" dirty="0" smtClean="0">
                <a:latin typeface="Verdana" pitchFamily="34" charset="0"/>
                <a:ea typeface="宋体" pitchFamily="2" charset="-122"/>
                <a:cs typeface="Arial" charset="0"/>
              </a:rPr>
              <a:t>-</a:t>
            </a:r>
            <a:r>
              <a:rPr lang="zh-CN" altLang="en-US" dirty="0">
                <a:ea typeface="宋体" pitchFamily="2" charset="-122"/>
                <a:cs typeface="Arial" charset="0"/>
              </a:rPr>
              <a:t>美丽的校园</a:t>
            </a:r>
            <a:r>
              <a:rPr lang="zh-CN" altLang="en-US" dirty="0" smtClean="0">
                <a:ea typeface="宋体" pitchFamily="2" charset="-122"/>
                <a:cs typeface="Arial" charset="0"/>
              </a:rPr>
              <a:t>风光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3089-5BCF-48AB-8539-EC76B81DD2E3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www.swpu.edu.cn</a:t>
            </a:r>
            <a:endParaRPr lang="en-US" altLang="zh-CN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C8B8-74D2-40C5-9FC6-3CC4DFE6D836}" type="slidenum">
              <a:rPr lang="zh-CN" altLang="en-US" smtClean="0"/>
              <a:pPr/>
              <a:t>3</a:t>
            </a:fld>
            <a:endParaRPr lang="en-US" altLang="zh-CN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657183" y="3794124"/>
            <a:ext cx="7277100" cy="0"/>
          </a:xfrm>
          <a:prstGeom prst="line">
            <a:avLst/>
          </a:prstGeom>
          <a:noFill/>
          <a:ln w="28575">
            <a:solidFill>
              <a:srgbClr val="39A0A3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1657183" y="2178049"/>
            <a:ext cx="7277100" cy="0"/>
          </a:xfrm>
          <a:prstGeom prst="line">
            <a:avLst/>
          </a:prstGeom>
          <a:noFill/>
          <a:ln w="28575">
            <a:solidFill>
              <a:srgbClr val="39A0A3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1547664" y="5517232"/>
            <a:ext cx="7277100" cy="0"/>
          </a:xfrm>
          <a:prstGeom prst="line">
            <a:avLst/>
          </a:prstGeom>
          <a:noFill/>
          <a:ln w="28575">
            <a:solidFill>
              <a:srgbClr val="39A0A3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331870" y="1943099"/>
            <a:ext cx="6602413" cy="468313"/>
          </a:xfrm>
          <a:prstGeom prst="roundRect">
            <a:avLst>
              <a:gd name="adj" fmla="val 50000"/>
            </a:avLst>
          </a:prstGeom>
          <a:solidFill>
            <a:srgbClr val="39A0A3"/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342900" indent="-342900" algn="r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 smtClean="0">
                <a:solidFill>
                  <a:srgbClr val="FFFFFF"/>
                </a:solidFill>
                <a:ea typeface="宋体" pitchFamily="2" charset="-122"/>
              </a:rPr>
              <a:t>图书馆</a:t>
            </a:r>
            <a:endParaRPr lang="en-GB" altLang="zh-CN" sz="3200" b="1" dirty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2331870" y="3559174"/>
            <a:ext cx="6602413" cy="468313"/>
          </a:xfrm>
          <a:prstGeom prst="roundRect">
            <a:avLst>
              <a:gd name="adj" fmla="val 50000"/>
            </a:avLst>
          </a:prstGeom>
          <a:solidFill>
            <a:srgbClr val="39A0A3"/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342900" indent="-342900" algn="r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 smtClean="0">
                <a:solidFill>
                  <a:srgbClr val="FFFFFF"/>
                </a:solidFill>
                <a:ea typeface="宋体" pitchFamily="2" charset="-122"/>
              </a:rPr>
              <a:t>教学楼</a:t>
            </a:r>
            <a:endParaRPr lang="en-GB" altLang="zh-CN" sz="3200" b="1" dirty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2331870" y="5268237"/>
            <a:ext cx="6602413" cy="468313"/>
          </a:xfrm>
          <a:prstGeom prst="roundRect">
            <a:avLst>
              <a:gd name="adj" fmla="val 50000"/>
            </a:avLst>
          </a:prstGeom>
          <a:solidFill>
            <a:srgbClr val="39A0A3"/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342900" indent="-342900" algn="r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 smtClean="0">
                <a:solidFill>
                  <a:srgbClr val="FFFFFF"/>
                </a:solidFill>
                <a:ea typeface="宋体" pitchFamily="2" charset="-122"/>
              </a:rPr>
              <a:t>校园一角</a:t>
            </a:r>
            <a:endParaRPr lang="en-GB" altLang="zh-CN" sz="3200" b="1" dirty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12" name="AutoShape 17"/>
          <p:cNvSpPr>
            <a:spLocks noChangeArrowheads="1"/>
          </p:cNvSpPr>
          <p:nvPr/>
        </p:nvSpPr>
        <p:spPr bwMode="auto">
          <a:xfrm>
            <a:off x="2331870" y="4643437"/>
            <a:ext cx="2116138" cy="1568650"/>
          </a:xfrm>
          <a:prstGeom prst="roundRect">
            <a:avLst>
              <a:gd name="adj" fmla="val 6565"/>
            </a:avLst>
          </a:prstGeom>
          <a:gradFill rotWithShape="1">
            <a:gsLst>
              <a:gs pos="0">
                <a:srgbClr val="39A0A3"/>
              </a:gs>
              <a:gs pos="100000">
                <a:srgbClr val="39A0A3">
                  <a:gamma/>
                  <a:shade val="86275"/>
                  <a:invGamma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lIns="90000" rIns="1800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ea typeface="宋体" pitchFamily="2" charset="-122"/>
              </a:rPr>
              <a:t>桃花怒放，春色满园，令人目不暇接</a:t>
            </a:r>
            <a:endParaRPr lang="en-GB" altLang="zh-CN" sz="2000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3" name="AutoShape 18"/>
          <p:cNvSpPr>
            <a:spLocks noChangeArrowheads="1"/>
          </p:cNvSpPr>
          <p:nvPr/>
        </p:nvSpPr>
        <p:spPr bwMode="auto">
          <a:xfrm>
            <a:off x="4572000" y="4643437"/>
            <a:ext cx="2116137" cy="1489075"/>
          </a:xfrm>
          <a:prstGeom prst="roundRect">
            <a:avLst>
              <a:gd name="adj" fmla="val 6565"/>
            </a:avLst>
          </a:prstGeom>
          <a:gradFill rotWithShape="1">
            <a:gsLst>
              <a:gs pos="0">
                <a:srgbClr val="39A0A3"/>
              </a:gs>
              <a:gs pos="100000">
                <a:srgbClr val="39A0A3">
                  <a:gamma/>
                  <a:shade val="86275"/>
                  <a:invGamma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lIns="90000" rIns="1800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ea typeface="宋体" pitchFamily="2" charset="-122"/>
              </a:rPr>
              <a:t>盛夏的湖畔，可静听知了声声，可观鱼儿游来游去</a:t>
            </a:r>
            <a:endParaRPr lang="en-GB" altLang="zh-CN" sz="2000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4" name="AutoShape 19"/>
          <p:cNvSpPr>
            <a:spLocks noChangeArrowheads="1"/>
          </p:cNvSpPr>
          <p:nvPr/>
        </p:nvSpPr>
        <p:spPr bwMode="auto">
          <a:xfrm>
            <a:off x="6804248" y="4604221"/>
            <a:ext cx="2116138" cy="1489075"/>
          </a:xfrm>
          <a:prstGeom prst="roundRect">
            <a:avLst>
              <a:gd name="adj" fmla="val 6565"/>
            </a:avLst>
          </a:prstGeom>
          <a:gradFill rotWithShape="1">
            <a:gsLst>
              <a:gs pos="0">
                <a:srgbClr val="39A0A3"/>
              </a:gs>
              <a:gs pos="100000">
                <a:srgbClr val="39A0A3">
                  <a:gamma/>
                  <a:shade val="86275"/>
                  <a:invGamma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lIns="90000" rIns="1800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ea typeface="宋体" pitchFamily="2" charset="-122"/>
              </a:rPr>
              <a:t>秋高气爽，有红叶翩翩</a:t>
            </a:r>
            <a:r>
              <a:rPr lang="en-US" altLang="zh-CN" sz="2000" dirty="0" smtClean="0">
                <a:solidFill>
                  <a:schemeClr val="bg1"/>
                </a:solidFill>
                <a:ea typeface="宋体" pitchFamily="2" charset="-122"/>
              </a:rPr>
              <a:t>……</a:t>
            </a:r>
            <a:endParaRPr lang="en-GB" altLang="zh-CN" sz="2000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5" name="AutoShape 21"/>
          <p:cNvSpPr>
            <a:spLocks noChangeArrowheads="1"/>
          </p:cNvSpPr>
          <p:nvPr/>
        </p:nvSpPr>
        <p:spPr bwMode="auto">
          <a:xfrm>
            <a:off x="2330457" y="1686717"/>
            <a:ext cx="6602413" cy="9810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39A0A3"/>
              </a:gs>
              <a:gs pos="100000">
                <a:srgbClr val="39A0A3">
                  <a:gamma/>
                  <a:shade val="86275"/>
                  <a:invGamma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lIns="126000" rIns="12600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chemeClr val="bg1"/>
                </a:solidFill>
              </a:rPr>
              <a:t>散 布 知 识，散 布 生 命</a:t>
            </a:r>
            <a:endParaRPr lang="en-GB" altLang="zh-CN" sz="3200" b="1" dirty="0">
              <a:solidFill>
                <a:schemeClr val="bg1"/>
              </a:solidFill>
            </a:endParaRPr>
          </a:p>
        </p:txBody>
      </p:sp>
      <p:sp>
        <p:nvSpPr>
          <p:cNvPr id="16" name="AutoShape 22"/>
          <p:cNvSpPr>
            <a:spLocks noChangeArrowheads="1"/>
          </p:cNvSpPr>
          <p:nvPr/>
        </p:nvSpPr>
        <p:spPr bwMode="auto">
          <a:xfrm>
            <a:off x="2330456" y="3304231"/>
            <a:ext cx="6602413" cy="9810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39A0A3"/>
              </a:gs>
              <a:gs pos="100000">
                <a:srgbClr val="39A0A3">
                  <a:gamma/>
                  <a:shade val="86275"/>
                  <a:invGamma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lIns="126000" rIns="12600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chemeClr val="bg1"/>
                </a:solidFill>
              </a:rPr>
              <a:t>书山有路勤为径，学海无涯苦作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舟</a:t>
            </a:r>
            <a:endParaRPr lang="en-GB" altLang="zh-CN" sz="3200" b="1" dirty="0">
              <a:solidFill>
                <a:schemeClr val="bg1"/>
              </a:solidFill>
              <a:ea typeface="宋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6709" y="1415736"/>
            <a:ext cx="1645227" cy="5134790"/>
            <a:chOff x="66709" y="1415736"/>
            <a:chExt cx="1645227" cy="5134790"/>
          </a:xfrm>
        </p:grpSpPr>
        <p:sp>
          <p:nvSpPr>
            <p:cNvPr id="20" name="Line 12"/>
            <p:cNvSpPr>
              <a:spLocks noChangeShapeType="1"/>
            </p:cNvSpPr>
            <p:nvPr/>
          </p:nvSpPr>
          <p:spPr bwMode="auto">
            <a:xfrm>
              <a:off x="918347" y="2428874"/>
              <a:ext cx="0" cy="946150"/>
            </a:xfrm>
            <a:prstGeom prst="line">
              <a:avLst/>
            </a:prstGeom>
            <a:noFill/>
            <a:ln w="28575">
              <a:solidFill>
                <a:srgbClr val="39A0A3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GB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918347" y="4170362"/>
              <a:ext cx="0" cy="946150"/>
            </a:xfrm>
            <a:prstGeom prst="line">
              <a:avLst/>
            </a:prstGeom>
            <a:noFill/>
            <a:ln w="28575">
              <a:solidFill>
                <a:srgbClr val="39A0A3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GB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848" y="3227009"/>
              <a:ext cx="1510261" cy="1282111"/>
            </a:xfrm>
            <a:prstGeom prst="ellipse">
              <a:avLst/>
            </a:prstGeom>
            <a:ln w="6350" cap="rnd"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14" y="5069686"/>
              <a:ext cx="1547922" cy="1480840"/>
            </a:xfrm>
            <a:prstGeom prst="ellipse">
              <a:avLst/>
            </a:prstGeom>
            <a:ln w="3175" cap="rnd">
              <a:solidFill>
                <a:schemeClr val="tx2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09" y="1415736"/>
              <a:ext cx="1590474" cy="1419860"/>
            </a:xfrm>
            <a:prstGeom prst="ellipse">
              <a:avLst/>
            </a:prstGeom>
            <a:ln w="6350" cap="rnd"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278514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3089-5BCF-48AB-8539-EC76B81DD2E3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www.swpu.edu.cn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C8B8-74D2-40C5-9FC6-3CC4DFE6D836}" type="slidenum">
              <a:rPr lang="zh-CN" altLang="en-US" smtClean="0"/>
              <a:pPr/>
              <a:t>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4" y="836712"/>
            <a:ext cx="8364289" cy="44111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384174" y="836712"/>
            <a:ext cx="8496943" cy="4411168"/>
          </a:xfrm>
          <a:prstGeom prst="roundRect">
            <a:avLst>
              <a:gd name="adj" fmla="val 4444"/>
            </a:avLst>
          </a:prstGeom>
          <a:solidFill>
            <a:srgbClr val="FFFFFF">
              <a:alpha val="80000"/>
            </a:srgbClr>
          </a:solidFill>
          <a:ln w="19050">
            <a:solidFill>
              <a:srgbClr val="0079C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" name="AutoShape 6" descr="CB023137-11542951"/>
          <p:cNvSpPr>
            <a:spLocks noChangeArrowheads="1"/>
          </p:cNvSpPr>
          <p:nvPr/>
        </p:nvSpPr>
        <p:spPr bwMode="auto">
          <a:xfrm>
            <a:off x="398951" y="1503809"/>
            <a:ext cx="7705725" cy="1781175"/>
          </a:xfrm>
          <a:prstGeom prst="roundRect">
            <a:avLst>
              <a:gd name="adj" fmla="val 8819"/>
            </a:avLst>
          </a:prstGeom>
          <a:noFill/>
          <a:ln w="57150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4800" b="1" dirty="0"/>
              <a:t>没 有 艰 辛，便 无 所 获</a:t>
            </a:r>
            <a:endParaRPr lang="en-GB" altLang="zh-CN" sz="4800" b="1" dirty="0">
              <a:ea typeface="宋体" pitchFamily="2" charset="-122"/>
            </a:endParaRPr>
          </a:p>
        </p:txBody>
      </p:sp>
      <p:sp>
        <p:nvSpPr>
          <p:cNvPr id="9" name="AutoShape 7" descr="CB023137-11542951"/>
          <p:cNvSpPr>
            <a:spLocks noChangeArrowheads="1"/>
          </p:cNvSpPr>
          <p:nvPr/>
        </p:nvSpPr>
        <p:spPr bwMode="auto">
          <a:xfrm>
            <a:off x="481351" y="3284984"/>
            <a:ext cx="7763057" cy="920750"/>
          </a:xfrm>
          <a:prstGeom prst="roundRect">
            <a:avLst>
              <a:gd name="adj" fmla="val 8819"/>
            </a:avLst>
          </a:prstGeom>
          <a:noFill/>
          <a:ln w="57150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/>
            <a:r>
              <a:rPr lang="zh-CN" altLang="en-US" sz="3600" b="1" dirty="0" smtClean="0">
                <a:solidFill>
                  <a:srgbClr val="3878A4"/>
                </a:solidFill>
                <a:latin typeface="Verdana" pitchFamily="34" charset="0"/>
              </a:rPr>
              <a:t>巴    金</a:t>
            </a:r>
            <a:endParaRPr lang="fr-FR" sz="3600" b="1" dirty="0">
              <a:solidFill>
                <a:srgbClr val="3878A4"/>
              </a:solidFill>
              <a:latin typeface="Verdana" pitchFamily="34" charset="0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51520" y="5164162"/>
            <a:ext cx="7488832" cy="107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zh-CN" altLang="en-US" sz="6600" b="1" dirty="0" smtClean="0">
                <a:solidFill>
                  <a:schemeClr val="bg1">
                    <a:lumMod val="50000"/>
                  </a:schemeClr>
                </a:solidFill>
                <a:latin typeface="Arial Black" pitchFamily="34" charset="0"/>
                <a:ea typeface="宋体" pitchFamily="2" charset="-122"/>
              </a:rPr>
              <a:t>图 书 馆</a:t>
            </a:r>
            <a:endParaRPr lang="en-GB" altLang="zh-CN" sz="6600" b="1" dirty="0">
              <a:solidFill>
                <a:schemeClr val="bg1">
                  <a:lumMod val="50000"/>
                </a:schemeClr>
              </a:solidFill>
              <a:latin typeface="Arial Black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262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3089-5BCF-48AB-8539-EC76B81DD2E3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www.swpu.edu.cn</a:t>
            </a:r>
            <a:endParaRPr lang="en-US" altLang="zh-CN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C8B8-74D2-40C5-9FC6-3CC4DFE6D836}" type="slidenum">
              <a:rPr lang="zh-CN" altLang="en-US" smtClean="0"/>
              <a:pPr/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281296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281296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9734"/>
            <a:ext cx="9281296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" y="-20095"/>
            <a:ext cx="9281296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" y="-20095"/>
            <a:ext cx="9281296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1520" y="0"/>
            <a:ext cx="36724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447EC4"/>
                </a:solidFill>
              </a:rPr>
              <a:t>读书使人充实</a:t>
            </a:r>
            <a:r>
              <a:rPr lang="zh-CN" altLang="en-US" sz="3600" b="1" dirty="0" smtClean="0">
                <a:solidFill>
                  <a:srgbClr val="447EC4"/>
                </a:solidFill>
              </a:rPr>
              <a:t>，</a:t>
            </a:r>
            <a:endParaRPr lang="en-US" altLang="zh-CN" sz="3600" b="1" dirty="0" smtClean="0">
              <a:solidFill>
                <a:srgbClr val="447EC4"/>
              </a:solidFill>
            </a:endParaRPr>
          </a:p>
          <a:p>
            <a:r>
              <a:rPr lang="zh-CN" altLang="en-US" sz="3600" b="1" dirty="0" smtClean="0">
                <a:solidFill>
                  <a:srgbClr val="447EC4"/>
                </a:solidFill>
              </a:rPr>
              <a:t>思考</a:t>
            </a:r>
            <a:r>
              <a:rPr lang="zh-CN" altLang="en-US" sz="3600" b="1" dirty="0">
                <a:solidFill>
                  <a:srgbClr val="447EC4"/>
                </a:solidFill>
              </a:rPr>
              <a:t>使人深邃</a:t>
            </a:r>
            <a:r>
              <a:rPr lang="zh-CN" altLang="en-US" sz="3600" b="1" dirty="0" smtClean="0">
                <a:solidFill>
                  <a:srgbClr val="447EC4"/>
                </a:solidFill>
              </a:rPr>
              <a:t>，</a:t>
            </a:r>
            <a:endParaRPr lang="en-US" altLang="zh-CN" sz="3600" b="1" dirty="0" smtClean="0">
              <a:solidFill>
                <a:srgbClr val="447EC4"/>
              </a:solidFill>
            </a:endParaRPr>
          </a:p>
          <a:p>
            <a:r>
              <a:rPr lang="zh-CN" altLang="en-US" sz="3600" b="1" dirty="0" smtClean="0">
                <a:solidFill>
                  <a:srgbClr val="447EC4"/>
                </a:solidFill>
              </a:rPr>
              <a:t>交流</a:t>
            </a:r>
            <a:r>
              <a:rPr lang="zh-CN" altLang="en-US" sz="3600" b="1" dirty="0">
                <a:solidFill>
                  <a:srgbClr val="447EC4"/>
                </a:solidFill>
              </a:rPr>
              <a:t>使人清醒</a:t>
            </a:r>
            <a:r>
              <a:rPr lang="zh-CN" altLang="en-US" sz="3600" b="1" dirty="0" smtClean="0">
                <a:solidFill>
                  <a:srgbClr val="447EC4"/>
                </a:solidFill>
              </a:rPr>
              <a:t>，</a:t>
            </a:r>
            <a:endParaRPr lang="en-US" altLang="zh-CN" sz="3600" b="1" dirty="0" smtClean="0">
              <a:solidFill>
                <a:srgbClr val="447EC4"/>
              </a:solidFill>
            </a:endParaRPr>
          </a:p>
          <a:p>
            <a:r>
              <a:rPr lang="zh-CN" altLang="en-US" sz="3600" b="1" dirty="0" smtClean="0">
                <a:solidFill>
                  <a:srgbClr val="447EC4"/>
                </a:solidFill>
              </a:rPr>
              <a:t>讨论</a:t>
            </a:r>
            <a:r>
              <a:rPr lang="zh-CN" altLang="en-US" sz="3600" b="1" dirty="0">
                <a:solidFill>
                  <a:srgbClr val="447EC4"/>
                </a:solidFill>
              </a:rPr>
              <a:t>使人机智</a:t>
            </a:r>
            <a:r>
              <a:rPr lang="zh-CN" altLang="en-US" sz="3600" b="1" dirty="0" smtClean="0">
                <a:solidFill>
                  <a:srgbClr val="447EC4"/>
                </a:solidFill>
              </a:rPr>
              <a:t>，</a:t>
            </a:r>
            <a:endParaRPr lang="en-US" altLang="zh-CN" sz="3600" b="1" dirty="0" smtClean="0">
              <a:solidFill>
                <a:srgbClr val="447EC4"/>
              </a:solidFill>
            </a:endParaRPr>
          </a:p>
          <a:p>
            <a:r>
              <a:rPr lang="zh-CN" altLang="en-US" sz="3600" b="1" dirty="0" smtClean="0">
                <a:solidFill>
                  <a:srgbClr val="447EC4"/>
                </a:solidFill>
              </a:rPr>
              <a:t>笔记</a:t>
            </a:r>
            <a:r>
              <a:rPr lang="zh-CN" altLang="en-US" sz="3600" b="1" dirty="0">
                <a:solidFill>
                  <a:srgbClr val="447EC4"/>
                </a:solidFill>
              </a:rPr>
              <a:t>使人</a:t>
            </a:r>
            <a:r>
              <a:rPr lang="zh-CN" altLang="en-US" sz="3600" b="1" dirty="0" smtClean="0">
                <a:solidFill>
                  <a:srgbClr val="447EC4"/>
                </a:solidFill>
              </a:rPr>
              <a:t>准确</a:t>
            </a:r>
            <a:r>
              <a:rPr lang="zh-CN" altLang="en-US" sz="3600" b="1" dirty="0">
                <a:solidFill>
                  <a:srgbClr val="447EC4"/>
                </a:solidFill>
              </a:rPr>
              <a:t>。</a:t>
            </a:r>
          </a:p>
        </p:txBody>
      </p:sp>
      <p:sp>
        <p:nvSpPr>
          <p:cNvPr id="10" name="矩形 9"/>
          <p:cNvSpPr/>
          <p:nvPr/>
        </p:nvSpPr>
        <p:spPr>
          <a:xfrm>
            <a:off x="-28369" y="-4597"/>
            <a:ext cx="9323490" cy="6858000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48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3089-5BCF-48AB-8539-EC76B81DD2E3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www.swpu.edu.cn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C8B8-74D2-40C5-9FC6-3CC4DFE6D836}" type="slidenum">
              <a:rPr lang="zh-CN" altLang="en-US" smtClean="0"/>
              <a:pPr/>
              <a:t>6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0" y="1268760"/>
            <a:ext cx="9144000" cy="29384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200150" y="4998527"/>
            <a:ext cx="6096000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B80AF"/>
                    </a:gs>
                    <a:gs pos="100000">
                      <a:srgbClr val="5296C5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zh-CN" altLang="en-US" sz="6600" b="1" dirty="0">
                <a:solidFill>
                  <a:schemeClr val="bg1">
                    <a:lumMod val="50000"/>
                  </a:schemeClr>
                </a:solidFill>
                <a:latin typeface="Arial Black" pitchFamily="34" charset="0"/>
                <a:ea typeface="宋体" charset="-122"/>
              </a:rPr>
              <a:t>怡</a:t>
            </a:r>
            <a:r>
              <a:rPr lang="zh-CN" altLang="en-US" sz="6600" b="1" dirty="0" smtClean="0">
                <a:solidFill>
                  <a:schemeClr val="bg1">
                    <a:lumMod val="50000"/>
                  </a:schemeClr>
                </a:solidFill>
                <a:latin typeface="Arial Black" pitchFamily="34" charset="0"/>
                <a:ea typeface="宋体" charset="-122"/>
              </a:rPr>
              <a:t>人美景</a:t>
            </a:r>
            <a:endParaRPr lang="en-GB" altLang="zh-CN" sz="6600" b="1" dirty="0">
              <a:solidFill>
                <a:schemeClr val="bg1">
                  <a:lumMod val="50000"/>
                </a:schemeClr>
              </a:solidFill>
              <a:latin typeface="Arial Black" pitchFamily="34" charset="0"/>
              <a:ea typeface="宋体" charset="-122"/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0" y="1268760"/>
            <a:ext cx="9144000" cy="3498850"/>
          </a:xfrm>
          <a:prstGeom prst="roundRect">
            <a:avLst>
              <a:gd name="adj" fmla="val 4444"/>
            </a:avLst>
          </a:prstGeom>
          <a:solidFill>
            <a:srgbClr val="FFFFFF">
              <a:alpha val="80000"/>
            </a:srgbClr>
          </a:solidFill>
          <a:ln w="19050">
            <a:solidFill>
              <a:srgbClr val="0079C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11" name="AutoShape 6" descr="CB023137-11542951"/>
          <p:cNvSpPr>
            <a:spLocks noChangeArrowheads="1"/>
          </p:cNvSpPr>
          <p:nvPr/>
        </p:nvSpPr>
        <p:spPr bwMode="auto">
          <a:xfrm>
            <a:off x="395288" y="1581274"/>
            <a:ext cx="7705725" cy="2135758"/>
          </a:xfrm>
          <a:prstGeom prst="roundRect">
            <a:avLst>
              <a:gd name="adj" fmla="val 881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3">
                    <a:lum bright="30000" contrast="-30000"/>
                    <a:grayscl/>
                  </a:blip>
                  <a:srcRect/>
                  <a:stretch>
                    <a:fillRect b="-167684"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79C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春 日 桃 花 对 岸 红</a:t>
            </a:r>
            <a:r>
              <a:rPr lang="zh-CN" altLang="en-US" sz="2800" b="1" dirty="0"/>
              <a:t>，</a:t>
            </a:r>
            <a:br>
              <a:rPr lang="zh-CN" altLang="en-US" sz="2800" b="1" dirty="0"/>
            </a:br>
            <a:r>
              <a:rPr lang="zh-CN" altLang="en-US" sz="2800" b="1" dirty="0" smtClean="0"/>
              <a:t>夏 景 荷 叶 满 池 中，</a:t>
            </a: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 smtClean="0"/>
              <a:t>秋 菊 丹 桂 香 千 里</a:t>
            </a:r>
            <a:r>
              <a:rPr lang="zh-CN" altLang="en-US" sz="2800" b="1" dirty="0"/>
              <a:t>，</a:t>
            </a:r>
            <a:br>
              <a:rPr lang="zh-CN" altLang="en-US" sz="2800" b="1" dirty="0"/>
            </a:br>
            <a:r>
              <a:rPr lang="zh-CN" altLang="en-US" sz="2800" b="1" dirty="0" smtClean="0"/>
              <a:t>冬 雪 寒 梅 翠 青 松</a:t>
            </a:r>
            <a:r>
              <a:rPr lang="zh-CN" altLang="en-US" sz="2800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0343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名师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风采</a:t>
            </a:r>
            <a:r>
              <a:rPr lang="en-US" altLang="zh-CN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-</a:t>
            </a:r>
            <a:r>
              <a:rPr lang="zh-CN" altLang="en-US" dirty="0">
                <a:ea typeface="宋体" pitchFamily="2" charset="-122"/>
                <a:cs typeface="Arial" charset="0"/>
              </a:rPr>
              <a:t>雄厚的师资</a:t>
            </a:r>
            <a:r>
              <a:rPr lang="zh-CN" altLang="en-US" dirty="0" smtClean="0">
                <a:ea typeface="宋体" pitchFamily="2" charset="-122"/>
                <a:cs typeface="Arial" charset="0"/>
              </a:rPr>
              <a:t>力量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411412"/>
            <a:ext cx="4267200" cy="2895600"/>
          </a:xfrm>
        </p:spPr>
      </p:pic>
      <p:sp>
        <p:nvSpPr>
          <p:cNvPr id="3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3089-5BCF-48AB-8539-EC76B81DD2E3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3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www.swpu.edu.cn</a:t>
            </a:r>
            <a:endParaRPr lang="en-US" altLang="zh-CN" dirty="0"/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C8B8-74D2-40C5-9FC6-3CC4DFE6D836}" type="slidenum">
              <a:rPr lang="zh-CN" altLang="en-US" smtClean="0"/>
              <a:pPr/>
              <a:t>7</a:t>
            </a:fld>
            <a:endParaRPr lang="en-US" altLang="zh-CN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537" y="1299756"/>
            <a:ext cx="3102975" cy="4356100"/>
          </a:xfrm>
          <a:prstGeom prst="rect">
            <a:avLst/>
          </a:prstGeom>
        </p:spPr>
      </p:pic>
      <p:sp>
        <p:nvSpPr>
          <p:cNvPr id="36" name="AutoShape 4"/>
          <p:cNvSpPr>
            <a:spLocks noChangeArrowheads="1"/>
          </p:cNvSpPr>
          <p:nvPr/>
        </p:nvSpPr>
        <p:spPr bwMode="auto">
          <a:xfrm>
            <a:off x="1259632" y="4050010"/>
            <a:ext cx="5040560" cy="819150"/>
          </a:xfrm>
          <a:prstGeom prst="roundRect">
            <a:avLst>
              <a:gd name="adj" fmla="val 29069"/>
            </a:avLst>
          </a:prstGeom>
          <a:solidFill>
            <a:srgbClr val="00AB39"/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dist"/>
            <a:r>
              <a:rPr lang="zh-CN" altLang="en-US" sz="3600" b="1" dirty="0">
                <a:solidFill>
                  <a:schemeClr val="bg1"/>
                </a:solidFill>
              </a:rPr>
              <a:t>教师是学生的镜子</a:t>
            </a:r>
            <a:endParaRPr lang="en-GB" altLang="zh-CN" sz="3600" b="1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687388" y="4992688"/>
            <a:ext cx="7772400" cy="110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81013" indent="-481013">
              <a:lnSpc>
                <a:spcPct val="89000"/>
              </a:lnSpc>
              <a:spcBef>
                <a:spcPct val="30000"/>
              </a:spcBef>
            </a:pPr>
            <a:endParaRPr lang="en-US" sz="2400"/>
          </a:p>
        </p:txBody>
      </p: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467545" y="1524000"/>
            <a:ext cx="5832648" cy="240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>
              <a:spcBef>
                <a:spcPct val="40000"/>
              </a:spcBef>
              <a:buClr>
                <a:schemeClr val="bg2"/>
              </a:buClr>
              <a:buSzPct val="85000"/>
              <a:buFontTx/>
              <a:buBlip>
                <a:blip r:embed="rId5"/>
              </a:buBlip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高水平师资</a:t>
            </a: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队伍                </a:t>
            </a:r>
            <a:r>
              <a:rPr lang="zh-CN" altLang="en-US" sz="2400" b="1" i="1" dirty="0">
                <a:solidFill>
                  <a:srgbClr val="00AB39"/>
                </a:solidFill>
                <a:ea typeface="宋体" charset="-122"/>
              </a:rPr>
              <a:t>正高级专业技术职务人员</a:t>
            </a:r>
            <a:r>
              <a:rPr lang="en-US" altLang="zh-CN" sz="2400" b="1" i="1" dirty="0">
                <a:solidFill>
                  <a:srgbClr val="00AB39"/>
                </a:solidFill>
                <a:ea typeface="宋体" charset="-122"/>
              </a:rPr>
              <a:t>211</a:t>
            </a:r>
            <a:r>
              <a:rPr lang="zh-CN" altLang="en-US" sz="2400" b="1" i="1" dirty="0">
                <a:solidFill>
                  <a:srgbClr val="00AB39"/>
                </a:solidFill>
                <a:ea typeface="宋体" charset="-122"/>
              </a:rPr>
              <a:t>人，副高级专业技术职务人员</a:t>
            </a:r>
            <a:r>
              <a:rPr lang="en-US" altLang="zh-CN" sz="2400" b="1" i="1" dirty="0">
                <a:solidFill>
                  <a:srgbClr val="00AB39"/>
                </a:solidFill>
                <a:ea typeface="宋体" charset="-122"/>
              </a:rPr>
              <a:t>499</a:t>
            </a:r>
            <a:r>
              <a:rPr lang="zh-CN" altLang="en-US" sz="2400" b="1" i="1" dirty="0" smtClean="0">
                <a:solidFill>
                  <a:srgbClr val="00AB39"/>
                </a:solidFill>
                <a:ea typeface="宋体" charset="-122"/>
              </a:rPr>
              <a:t>人</a:t>
            </a:r>
            <a:endParaRPr lang="en-US" altLang="zh-CN" sz="2400" b="1" i="1" dirty="0" smtClean="0">
              <a:solidFill>
                <a:srgbClr val="00AB39"/>
              </a:solidFill>
              <a:ea typeface="宋体" charset="-122"/>
            </a:endParaRPr>
          </a:p>
          <a:p>
            <a:pPr marL="341313" indent="-341313">
              <a:spcBef>
                <a:spcPct val="40000"/>
              </a:spcBef>
              <a:buClr>
                <a:schemeClr val="bg2"/>
              </a:buClr>
              <a:buSzPct val="85000"/>
              <a:buFontTx/>
              <a:buBlip>
                <a:blip r:embed="rId5"/>
              </a:buBlip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中国工程院院士、国务院学位委员会学科评议组成员</a:t>
            </a:r>
            <a:r>
              <a:rPr lang="en-US" altLang="zh-CN" sz="3200" dirty="0" smtClean="0"/>
              <a:t>……</a:t>
            </a:r>
            <a:endParaRPr lang="en-GB" altLang="zh-CN" sz="32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9" name="AutoShape 7"/>
          <p:cNvSpPr>
            <a:spLocks noChangeArrowheads="1"/>
          </p:cNvSpPr>
          <p:nvPr/>
        </p:nvSpPr>
        <p:spPr bwMode="auto">
          <a:xfrm>
            <a:off x="2174875" y="5247729"/>
            <a:ext cx="7315200" cy="530948"/>
          </a:xfrm>
          <a:prstGeom prst="roundRect">
            <a:avLst>
              <a:gd name="adj" fmla="val 36176"/>
            </a:avLst>
          </a:prstGeom>
          <a:ln/>
          <a:ex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lnSpc>
                <a:spcPct val="89000"/>
              </a:lnSpc>
              <a:spcBef>
                <a:spcPct val="30000"/>
              </a:spcBef>
              <a:buClr>
                <a:srgbClr val="FFCC00"/>
              </a:buClr>
              <a:buSzPct val="89000"/>
              <a:buFont typeface="Wingdings" pitchFamily="2" charset="2"/>
              <a:buNone/>
            </a:pPr>
            <a:r>
              <a:rPr lang="zh-CN" altLang="en-US" sz="2400" b="1" dirty="0"/>
              <a:t>罗平亚</a:t>
            </a:r>
            <a:r>
              <a:rPr lang="zh-CN" altLang="en-US" sz="2400" b="1" dirty="0" smtClean="0"/>
              <a:t>，教授</a:t>
            </a:r>
            <a:r>
              <a:rPr lang="zh-CN" altLang="en-US" sz="2400" b="1" dirty="0"/>
              <a:t>，博士生导师，中国工程院</a:t>
            </a:r>
            <a:r>
              <a:rPr lang="zh-CN" altLang="en-US" sz="2400" b="1" dirty="0" smtClean="0"/>
              <a:t>院士。</a:t>
            </a:r>
            <a:endParaRPr lang="en-GB" altLang="zh-CN" sz="2400" b="1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274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 build="p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莘莘学子</a:t>
            </a:r>
            <a:r>
              <a:rPr lang="en-US" altLang="zh-CN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-</a:t>
            </a:r>
            <a:r>
              <a:rPr lang="zh-CN" altLang="en-US" dirty="0">
                <a:ea typeface="宋体" pitchFamily="2" charset="-122"/>
                <a:cs typeface="Arial" charset="0"/>
              </a:rPr>
              <a:t>学子的梦想</a:t>
            </a:r>
            <a:r>
              <a:rPr lang="zh-CN" altLang="en-US" dirty="0" smtClean="0">
                <a:ea typeface="宋体" pitchFamily="2" charset="-122"/>
                <a:cs typeface="Arial" charset="0"/>
              </a:rPr>
              <a:t>天堂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3089-5BCF-48AB-8539-EC76B81DD2E3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/>
              <a:t>www.swpu.edu.cn</a:t>
            </a:r>
            <a:endParaRPr lang="en-US" altLang="zh-CN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C8B8-74D2-40C5-9FC6-3CC4DFE6D836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717"/>
            <a:ext cx="9144000" cy="29384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2526251337"/>
              </p:ext>
            </p:extLst>
          </p:nvPr>
        </p:nvGraphicFramePr>
        <p:xfrm>
          <a:off x="899592" y="1412776"/>
          <a:ext cx="7488832" cy="95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图示 10"/>
          <p:cNvGraphicFramePr/>
          <p:nvPr>
            <p:extLst>
              <p:ext uri="{D42A27DB-BD31-4B8C-83A1-F6EECF244321}">
                <p14:modId xmlns:p14="http://schemas.microsoft.com/office/powerpoint/2010/main" val="803932303"/>
              </p:ext>
            </p:extLst>
          </p:nvPr>
        </p:nvGraphicFramePr>
        <p:xfrm>
          <a:off x="899592" y="5554216"/>
          <a:ext cx="7488832" cy="827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18930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1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多彩</a:t>
            </a:r>
            <a:r>
              <a:rPr lang="zh-CN" altLang="en-US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生活</a:t>
            </a:r>
            <a:r>
              <a:rPr lang="en-US" altLang="zh-CN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pitchFamily="2" charset="-122"/>
                <a:cs typeface="Arial" charset="0"/>
              </a:rPr>
              <a:t>-</a:t>
            </a:r>
            <a:r>
              <a:rPr lang="zh-CN" altLang="en-US" dirty="0">
                <a:ea typeface="宋体" pitchFamily="2" charset="-122"/>
                <a:cs typeface="Arial" charset="0"/>
              </a:rPr>
              <a:t>无悔的青春</a:t>
            </a:r>
            <a:r>
              <a:rPr lang="zh-CN" altLang="en-US" dirty="0" smtClean="0">
                <a:ea typeface="宋体" pitchFamily="2" charset="-122"/>
                <a:cs typeface="Arial" charset="0"/>
              </a:rPr>
              <a:t>岁月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3089-5BCF-48AB-8539-EC76B81DD2E3}" type="datetime1">
              <a:rPr lang="zh-CN" altLang="en-US" smtClean="0"/>
              <a:pPr/>
              <a:t>2018/11/13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www.swpu.edu.cn</a:t>
            </a:r>
            <a:endParaRPr lang="en-US" altLang="zh-CN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C8B8-74D2-40C5-9FC6-3CC4DFE6D836}" type="slidenum">
              <a:rPr lang="zh-CN" altLang="en-US" smtClean="0"/>
              <a:pPr/>
              <a:t>9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6762"/>
            <a:ext cx="9143999" cy="528858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04878"/>
            <a:ext cx="9144001" cy="5653121"/>
          </a:xfrm>
          <a:prstGeom prst="rect">
            <a:avLst/>
          </a:prstGeom>
        </p:spPr>
      </p:pic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-12421888" y="6158755"/>
            <a:ext cx="14617999" cy="58261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r">
              <a:spcBef>
                <a:spcPct val="50000"/>
              </a:spcBef>
            </a:pPr>
            <a:r>
              <a:rPr lang="zh-CN" altLang="en-US" b="1" dirty="0"/>
              <a:t>生活赋予我们一种巨大的和无限高贵的礼品，这就是青春：充满着力量，充满着期待志愿，充满着求知和斗争的志向，充满着希望信心和青春</a:t>
            </a:r>
            <a:r>
              <a:rPr lang="zh-CN" altLang="en-US" b="1" dirty="0" smtClean="0"/>
              <a:t>。</a:t>
            </a:r>
            <a:endParaRPr lang="en-GB" altLang="zh-CN" b="1" dirty="0">
              <a:solidFill>
                <a:schemeClr val="tx2">
                  <a:lumMod val="75000"/>
                </a:schemeClr>
              </a:solidFill>
              <a:latin typeface="Square721 BT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9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-15268" y="1"/>
            <a:ext cx="9159268" cy="3717032"/>
          </a:xfrm>
          <a:prstGeom prst="roundRect">
            <a:avLst>
              <a:gd name="adj" fmla="val 8634"/>
            </a:avLst>
          </a:prstGeom>
          <a:solidFill>
            <a:srgbClr val="3B80AF">
              <a:alpha val="70000"/>
            </a:srgbClr>
          </a:solidFill>
          <a:ln w="3175">
            <a:solidFill>
              <a:srgbClr val="3B80A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flipV="1">
            <a:off x="4032250" y="3242962"/>
            <a:ext cx="0" cy="2130253"/>
          </a:xfrm>
          <a:prstGeom prst="line">
            <a:avLst/>
          </a:prstGeom>
          <a:ln w="3175"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115616" y="5055567"/>
            <a:ext cx="28358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宋体" pitchFamily="2" charset="-122"/>
              </a:rPr>
              <a:t>www.swpu.edu.cn</a:t>
            </a:r>
            <a:endParaRPr lang="en-GB" altLang="zh-CN" sz="2400" b="1" dirty="0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378056" y="5517232"/>
            <a:ext cx="4998484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 smtClean="0">
                <a:solidFill>
                  <a:schemeClr val="tx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西 </a:t>
            </a:r>
            <a:r>
              <a:rPr lang="zh-CN" altLang="en-US" sz="4400" b="1" dirty="0">
                <a:solidFill>
                  <a:schemeClr val="tx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南 石 油 大 学</a:t>
            </a:r>
            <a:endParaRPr lang="en-GB" altLang="zh-CN" sz="4400" b="1" dirty="0">
              <a:solidFill>
                <a:schemeClr val="tx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endParaRPr lang="en-GB" altLang="zh-CN" sz="4400" b="1" dirty="0">
              <a:solidFill>
                <a:schemeClr val="tx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Rectangle 21"/>
          <p:cNvSpPr>
            <a:spLocks noChangeArrowheads="1"/>
          </p:cNvSpPr>
          <p:nvPr/>
        </p:nvSpPr>
        <p:spPr bwMode="auto">
          <a:xfrm>
            <a:off x="4032250" y="2996952"/>
            <a:ext cx="4587875" cy="95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B80AF"/>
                    </a:gs>
                    <a:gs pos="100000">
                      <a:srgbClr val="5296C5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dist"/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我热爱的母校</a:t>
            </a:r>
            <a:endParaRPr lang="en-GB" altLang="zh-CN" sz="4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" name="Picture 8" descr="arrowbutton">
            <a:hlinkClick r:id="rId3" action="ppaction://hlinksldjump"/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8444" y="6457950"/>
            <a:ext cx="384175" cy="400050"/>
          </a:xfrm>
          <a:prstGeom prst="rect">
            <a:avLst/>
          </a:prstGeom>
          <a:noFill/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 descr="arrowbutton">
            <a:hlinkClick r:id="rId5" action="ppaction://hlinksldjump"/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57" y="6457950"/>
            <a:ext cx="384175" cy="400050"/>
          </a:xfrm>
          <a:prstGeom prst="rect">
            <a:avLst/>
          </a:prstGeom>
          <a:noFill/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home">
            <a:hlinkClick r:id="" action="ppaction://hlinkshowjump?jump=firstslide"/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68" y="6457950"/>
            <a:ext cx="384175" cy="400050"/>
          </a:xfrm>
          <a:prstGeom prst="rect">
            <a:avLst/>
          </a:prstGeom>
          <a:noFill/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48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Eric彩色模板">
  <a:themeElements>
    <a:clrScheme name="Eric彩色模板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Eric彩色模板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ric彩色模板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ric彩色模板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ric彩色模板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</TotalTime>
  <Words>316</Words>
  <Application>Microsoft Office PowerPoint</Application>
  <PresentationFormat>全屏显示(4:3)</PresentationFormat>
  <Paragraphs>73</Paragraphs>
  <Slides>10</Slides>
  <Notes>4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Eric彩色模板</vt:lpstr>
      <vt:lpstr>PowerPoint 演示文稿</vt:lpstr>
      <vt:lpstr>石 大 掠 影</vt:lpstr>
      <vt:lpstr>校园剪影-美丽的校园风光</vt:lpstr>
      <vt:lpstr>PowerPoint 演示文稿</vt:lpstr>
      <vt:lpstr>PowerPoint 演示文稿</vt:lpstr>
      <vt:lpstr>PowerPoint 演示文稿</vt:lpstr>
      <vt:lpstr>名师风采-雄厚的师资力量</vt:lpstr>
      <vt:lpstr>莘莘学子-学子的梦想天堂</vt:lpstr>
      <vt:lpstr>多彩生活-无悔的青春岁月</vt:lpstr>
      <vt:lpstr>PowerPoint 演示文稿</vt:lpstr>
    </vt:vector>
  </TitlesOfParts>
  <Company>BYNA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ERIC WANG</dc:creator>
  <cp:lastModifiedBy>MET</cp:lastModifiedBy>
  <cp:revision>70</cp:revision>
  <dcterms:created xsi:type="dcterms:W3CDTF">2007-06-18T07:28:08Z</dcterms:created>
  <dcterms:modified xsi:type="dcterms:W3CDTF">2018-11-13T02:45:42Z</dcterms:modified>
</cp:coreProperties>
</file>