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FF"/>
    <a:srgbClr val="F7BD19"/>
    <a:srgbClr val="DFB813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-1704" y="-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EBF0C0-A09E-4896-9D60-33F0E5D3B16E}" type="datetimeFigureOut">
              <a:rPr lang="zh-CN" altLang="en-US" smtClean="0"/>
              <a:pPr/>
              <a:t>2018/11/14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49E076-AE23-44AE-BAFC-C9AC532065A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126195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19140000">
            <a:off x="817112" y="1730403"/>
            <a:ext cx="5648623" cy="1204306"/>
          </a:xfrm>
        </p:spPr>
        <p:txBody>
          <a:bodyPr bIns="9144"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19140000">
            <a:off x="1212277" y="2470925"/>
            <a:ext cx="6511131" cy="329259"/>
          </a:xfrm>
        </p:spPr>
        <p:txBody>
          <a:bodyPr tIns="9144">
            <a:normAutofit/>
          </a:bodyPr>
          <a:lstStyle>
            <a:lvl1pPr marL="0" indent="0" algn="l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CFBD-2A53-4419-941E-88141ACE83C9}" type="datetimeFigureOut">
              <a:rPr lang="zh-CN" altLang="en-US" smtClean="0"/>
              <a:pPr/>
              <a:t>2018/11/14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9AC5-A42F-4468-B93A-7A8580C78E5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CFBD-2A53-4419-941E-88141ACE83C9}" type="datetimeFigureOut">
              <a:rPr lang="zh-CN" altLang="en-US" smtClean="0"/>
              <a:pPr/>
              <a:t>2018/11/14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9AC5-A42F-4468-B93A-7A8580C78E5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7"/>
          <p:cNvSpPr/>
          <p:nvPr/>
        </p:nvSpPr>
        <p:spPr>
          <a:xfrm>
            <a:off x="-2380" y="-925"/>
            <a:ext cx="9146380" cy="6858925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2002901">
                <a:moveTo>
                  <a:pt x="0" y="2002901"/>
                </a:moveTo>
                <a:lnTo>
                  <a:pt x="2836585" y="0"/>
                </a:lnTo>
                <a:lnTo>
                  <a:pt x="3352800" y="270"/>
                </a:lnTo>
                <a:lnTo>
                  <a:pt x="3352800" y="2002901"/>
                </a:lnTo>
                <a:lnTo>
                  <a:pt x="0" y="200290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ight Triangle 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819399" y="1726737"/>
            <a:ext cx="5650992" cy="1207509"/>
          </a:xfrm>
        </p:spPr>
        <p:txBody>
          <a:bodyPr bIns="9144" anchor="b"/>
          <a:lstStyle>
            <a:lvl1pPr algn="l">
              <a:defRPr kumimoji="0" lang="en-US" sz="3200" b="0" i="0" u="none" strike="noStrike" kern="1200" cap="all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 rot="19140000">
            <a:off x="1216152" y="2468304"/>
            <a:ext cx="6510528" cy="329184"/>
          </a:xfrm>
        </p:spPr>
        <p:txBody>
          <a:bodyPr anchor="t">
            <a:normAutofit/>
          </a:bodyPr>
          <a:lstStyle>
            <a:lvl1pPr marL="0" indent="0">
              <a:buNone/>
              <a:defRPr kumimoji="0" lang="en-US" sz="1400" b="0" i="0" u="none" strike="noStrike" kern="1200" cap="all" spc="40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CFBD-2A53-4419-941E-88141ACE83C9}" type="datetimeFigureOut">
              <a:rPr lang="zh-CN" altLang="en-US" smtClean="0"/>
              <a:pPr/>
              <a:t>2018/11/14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9AC5-A42F-4468-B93A-7A8580C78E5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60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016" y="1097280"/>
            <a:ext cx="3200400" cy="371246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CFBD-2A53-4419-941E-88141ACE83C9}" type="datetimeFigureOut">
              <a:rPr lang="zh-CN" altLang="en-US" smtClean="0"/>
              <a:pPr/>
              <a:t>2018/11/14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9AC5-A42F-4468-B93A-7A8580C78E5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19150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0016" y="1097280"/>
            <a:ext cx="3200400" cy="548640"/>
          </a:xfrm>
        </p:spPr>
        <p:txBody>
          <a:bodyPr anchor="b">
            <a:normAutofit/>
          </a:bodyPr>
          <a:lstStyle>
            <a:lvl1pPr marL="0" indent="0">
              <a:buNone/>
              <a:defRPr lang="en-US" sz="1400" b="0" kern="1200" cap="all" spc="400" baseline="0" dirty="0" smtClean="0">
                <a:solidFill>
                  <a:schemeClr val="tx1"/>
                </a:solidFill>
                <a:latin typeface="+mn-lt"/>
                <a:ea typeface="+mj-ea"/>
                <a:cs typeface="Tunga" pitchFamily="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 pitchFamily="34" charset="0"/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0016" y="1701848"/>
            <a:ext cx="3200400" cy="310896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CFBD-2A53-4419-941E-88141ACE83C9}" type="datetimeFigureOut">
              <a:rPr lang="zh-CN" altLang="en-US" smtClean="0"/>
              <a:pPr/>
              <a:t>2018/11/14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9AC5-A42F-4468-B93A-7A8580C78E5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CFBD-2A53-4419-941E-88141ACE83C9}" type="datetimeFigureOut">
              <a:rPr lang="zh-CN" altLang="en-US" smtClean="0"/>
              <a:pPr/>
              <a:t>2018/11/14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9AC5-A42F-4468-B93A-7A8580C78E5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CFBD-2A53-4419-941E-88141ACE83C9}" type="datetimeFigureOut">
              <a:rPr lang="zh-CN" altLang="en-US" smtClean="0"/>
              <a:pPr/>
              <a:t>2018/11/14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9AC5-A42F-4468-B93A-7A8580C78E5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ight Triangle 16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/>
          <p:cNvSpPr/>
          <p:nvPr/>
        </p:nvSpPr>
        <p:spPr>
          <a:xfrm rot="5400000">
            <a:off x="433389" y="-433387"/>
            <a:ext cx="6858000" cy="7724778"/>
          </a:xfrm>
          <a:prstGeom prst="rtTriangle">
            <a:avLst/>
          </a:pr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784930" y="1576103"/>
            <a:ext cx="5212080" cy="1089427"/>
          </a:xfrm>
        </p:spPr>
        <p:txBody>
          <a:bodyPr bIns="0" anchor="b"/>
          <a:lstStyle>
            <a:lvl1pPr algn="l">
              <a:defRPr kumimoji="0" lang="en-US" sz="2800" b="0" i="0" u="none" strike="noStrike" kern="1200" cap="all" spc="0" normalizeH="0" baseline="0" noProof="0" dirty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9552" y="2618912"/>
            <a:ext cx="3807779" cy="33246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297954" y="2253385"/>
            <a:ext cx="5794760" cy="623314"/>
          </a:xfrm>
        </p:spPr>
        <p:txBody>
          <a:bodyPr>
            <a:normAutofit/>
          </a:bodyPr>
          <a:lstStyle>
            <a:lvl1pPr marL="0" indent="0">
              <a:buNone/>
              <a:defRPr lang="en-US" sz="1400" b="1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ct val="100000"/>
              <a:buFont typeface="Arial" pitchFamily="34" charset="0"/>
              <a:buNone/>
              <a:tabLst/>
              <a:defRPr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CFBD-2A53-4419-941E-88141ACE83C9}" type="datetimeFigureOut">
              <a:rPr lang="zh-CN" altLang="en-US" smtClean="0"/>
              <a:pPr/>
              <a:t>2018/11/14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ln>
            <a:solidFill>
              <a:schemeClr val="tx2"/>
            </a:solidFill>
          </a:ln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DA9AC5-A42F-4468-B93A-7A8580C78E5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4"/>
          </p:nvPr>
        </p:nvSpPr>
        <p:spPr>
          <a:xfrm>
            <a:off x="2028825" y="0"/>
            <a:ext cx="7115175" cy="6858000"/>
          </a:xfrm>
          <a:custGeom>
            <a:avLst/>
            <a:gdLst>
              <a:gd name="connsiteX0" fmla="*/ 0 w 7104888"/>
              <a:gd name="connsiteY0" fmla="*/ 0 h 6858000"/>
              <a:gd name="connsiteX1" fmla="*/ 7104888 w 7104888"/>
              <a:gd name="connsiteY1" fmla="*/ 0 h 6858000"/>
              <a:gd name="connsiteX2" fmla="*/ 7104888 w 7104888"/>
              <a:gd name="connsiteY2" fmla="*/ 6858000 h 6858000"/>
              <a:gd name="connsiteX3" fmla="*/ 0 w 7104888"/>
              <a:gd name="connsiteY3" fmla="*/ 6858000 h 6858000"/>
              <a:gd name="connsiteX4" fmla="*/ 0 w 7104888"/>
              <a:gd name="connsiteY4" fmla="*/ 0 h 6858000"/>
              <a:gd name="connsiteX0" fmla="*/ 0 w 7104888"/>
              <a:gd name="connsiteY0" fmla="*/ 0 h 6858000"/>
              <a:gd name="connsiteX1" fmla="*/ 5695188 w 7104888"/>
              <a:gd name="connsiteY1" fmla="*/ 0 h 6858000"/>
              <a:gd name="connsiteX2" fmla="*/ 7104888 w 7104888"/>
              <a:gd name="connsiteY2" fmla="*/ 0 h 6858000"/>
              <a:gd name="connsiteX3" fmla="*/ 7104888 w 7104888"/>
              <a:gd name="connsiteY3" fmla="*/ 6858000 h 6858000"/>
              <a:gd name="connsiteX4" fmla="*/ 0 w 7104888"/>
              <a:gd name="connsiteY4" fmla="*/ 6858000 h 6858000"/>
              <a:gd name="connsiteX5" fmla="*/ 0 w 7104888"/>
              <a:gd name="connsiteY5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0287 w 7115175"/>
              <a:gd name="connsiteY4" fmla="*/ 6858000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10287 w 7115175"/>
              <a:gd name="connsiteY5" fmla="*/ 6858000 h 6858000"/>
              <a:gd name="connsiteX6" fmla="*/ 0 w 7115175"/>
              <a:gd name="connsiteY6" fmla="*/ 5048250 h 6858000"/>
              <a:gd name="connsiteX7" fmla="*/ 10287 w 7115175"/>
              <a:gd name="connsiteY7" fmla="*/ 0 h 6858000"/>
              <a:gd name="connsiteX0" fmla="*/ 10287 w 7115175"/>
              <a:gd name="connsiteY0" fmla="*/ 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  <a:gd name="connsiteX6" fmla="*/ 10287 w 7115175"/>
              <a:gd name="connsiteY6" fmla="*/ 0 h 6858000"/>
              <a:gd name="connsiteX0" fmla="*/ 0 w 7115175"/>
              <a:gd name="connsiteY0" fmla="*/ 5048250 h 6858000"/>
              <a:gd name="connsiteX1" fmla="*/ 5705475 w 7115175"/>
              <a:gd name="connsiteY1" fmla="*/ 0 h 6858000"/>
              <a:gd name="connsiteX2" fmla="*/ 7115175 w 7115175"/>
              <a:gd name="connsiteY2" fmla="*/ 0 h 6858000"/>
              <a:gd name="connsiteX3" fmla="*/ 7115175 w 7115175"/>
              <a:gd name="connsiteY3" fmla="*/ 6858000 h 6858000"/>
              <a:gd name="connsiteX4" fmla="*/ 1533526 w 7115175"/>
              <a:gd name="connsiteY4" fmla="*/ 6848475 h 6858000"/>
              <a:gd name="connsiteX5" fmla="*/ 0 w 7115175"/>
              <a:gd name="connsiteY5" fmla="*/ 50482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115175" h="6858000">
                <a:moveTo>
                  <a:pt x="0" y="5048250"/>
                </a:moveTo>
                <a:lnTo>
                  <a:pt x="5705475" y="0"/>
                </a:lnTo>
                <a:lnTo>
                  <a:pt x="7115175" y="0"/>
                </a:lnTo>
                <a:lnTo>
                  <a:pt x="7115175" y="6858000"/>
                </a:lnTo>
                <a:lnTo>
                  <a:pt x="1533526" y="6848475"/>
                </a:lnTo>
                <a:lnTo>
                  <a:pt x="0" y="50482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</p:spPr>
        <p:txBody>
          <a:bodyPr rIns="182880" anchor="ctr"/>
          <a:lstStyle>
            <a:lvl1pPr algn="r">
              <a:defRPr/>
            </a:lvl1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9" name="Right Triangle 8"/>
          <p:cNvSpPr/>
          <p:nvPr/>
        </p:nvSpPr>
        <p:spPr>
          <a:xfrm>
            <a:off x="0" y="2647950"/>
            <a:ext cx="3571875" cy="4210050"/>
          </a:xfrm>
          <a:prstGeom prst="rtTriangl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 9"/>
          <p:cNvSpPr/>
          <p:nvPr/>
        </p:nvSpPr>
        <p:spPr>
          <a:xfrm>
            <a:off x="0" y="5048250"/>
            <a:ext cx="3571875" cy="1809750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1809750 h 1809750"/>
              <a:gd name="connsiteX1" fmla="*/ 1895475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  <a:gd name="connsiteX0" fmla="*/ 0 w 3571875"/>
              <a:gd name="connsiteY0" fmla="*/ 1809750 h 1809750"/>
              <a:gd name="connsiteX1" fmla="*/ 2038350 w 3571875"/>
              <a:gd name="connsiteY1" fmla="*/ 0 h 1809750"/>
              <a:gd name="connsiteX2" fmla="*/ 3571875 w 3571875"/>
              <a:gd name="connsiteY2" fmla="*/ 1809750 h 1809750"/>
              <a:gd name="connsiteX3" fmla="*/ 0 w 3571875"/>
              <a:gd name="connsiteY3" fmla="*/ 1809750 h 1809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71875" h="1809750">
                <a:moveTo>
                  <a:pt x="0" y="1809750"/>
                </a:moveTo>
                <a:lnTo>
                  <a:pt x="2038350" y="0"/>
                </a:lnTo>
                <a:lnTo>
                  <a:pt x="3571875" y="1809750"/>
                </a:lnTo>
                <a:lnTo>
                  <a:pt x="0" y="1809750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9140000">
            <a:off x="671197" y="1717501"/>
            <a:ext cx="5486400" cy="867444"/>
          </a:xfrm>
        </p:spPr>
        <p:txBody>
          <a:bodyPr anchor="b"/>
          <a:lstStyle>
            <a:lvl1pPr algn="l">
              <a:defRPr sz="2800" b="0">
                <a:latin typeface="+mj-lt"/>
              </a:defRPr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 rot="19140000">
            <a:off x="1143479" y="2180529"/>
            <a:ext cx="6096545" cy="740664"/>
          </a:xfrm>
        </p:spPr>
        <p:txBody>
          <a:bodyPr/>
          <a:lstStyle>
            <a:lvl1pPr marL="0" indent="0">
              <a:buNone/>
              <a:defRPr sz="1400">
                <a:solidFill>
                  <a:schemeClr val="tx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CFBD-2A53-4419-941E-88141ACE83C9}" type="datetimeFigureOut">
              <a:rPr lang="zh-CN" altLang="en-US" smtClean="0"/>
              <a:pPr/>
              <a:t>2018/11/14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9AC5-A42F-4468-B93A-7A8580C78E5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CFBD-2A53-4419-941E-88141ACE83C9}" type="datetimeFigureOut">
              <a:rPr lang="zh-CN" altLang="en-US" smtClean="0"/>
              <a:pPr/>
              <a:t>2018/11/14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9AC5-A42F-4468-B93A-7A8580C78E5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4678362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4678362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BCFBD-2A53-4419-941E-88141ACE83C9}" type="datetimeFigureOut">
              <a:rPr lang="zh-CN" altLang="en-US" smtClean="0"/>
              <a:pPr/>
              <a:t>2018/11/14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DA9AC5-A42F-4468-B93A-7A8580C78E5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/>
          <p:nvPr/>
        </p:nvSpPr>
        <p:spPr>
          <a:xfrm>
            <a:off x="-2382" y="5050633"/>
            <a:ext cx="3574257" cy="1807368"/>
          </a:xfrm>
          <a:custGeom>
            <a:avLst/>
            <a:gdLst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3571875 w 3571875"/>
              <a:gd name="connsiteY2" fmla="*/ 4210050 h 4210050"/>
              <a:gd name="connsiteX3" fmla="*/ 0 w 3571875"/>
              <a:gd name="connsiteY3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883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050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281238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28825 w 3571875"/>
              <a:gd name="connsiteY2" fmla="*/ 2393157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76450 w 3571875"/>
              <a:gd name="connsiteY2" fmla="*/ 2274094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245519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4210050 h 4210050"/>
              <a:gd name="connsiteX1" fmla="*/ 0 w 3571875"/>
              <a:gd name="connsiteY1" fmla="*/ 0 h 4210050"/>
              <a:gd name="connsiteX2" fmla="*/ 2038350 w 3571875"/>
              <a:gd name="connsiteY2" fmla="*/ 2405063 h 4210050"/>
              <a:gd name="connsiteX3" fmla="*/ 3571875 w 3571875"/>
              <a:gd name="connsiteY3" fmla="*/ 4210050 h 4210050"/>
              <a:gd name="connsiteX4" fmla="*/ 0 w 3571875"/>
              <a:gd name="connsiteY4" fmla="*/ 4210050 h 4210050"/>
              <a:gd name="connsiteX0" fmla="*/ 0 w 3571875"/>
              <a:gd name="connsiteY0" fmla="*/ 2433637 h 2433637"/>
              <a:gd name="connsiteX1" fmla="*/ 257175 w 3571875"/>
              <a:gd name="connsiteY1" fmla="*/ 0 h 2433637"/>
              <a:gd name="connsiteX2" fmla="*/ 2038350 w 3571875"/>
              <a:gd name="connsiteY2" fmla="*/ 628650 h 2433637"/>
              <a:gd name="connsiteX3" fmla="*/ 3571875 w 3571875"/>
              <a:gd name="connsiteY3" fmla="*/ 2433637 h 2433637"/>
              <a:gd name="connsiteX4" fmla="*/ 0 w 3571875"/>
              <a:gd name="connsiteY4" fmla="*/ 2433637 h 2433637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24051 w 3574257"/>
              <a:gd name="connsiteY2" fmla="*/ 30718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40682 w 3574257"/>
              <a:gd name="connsiteY2" fmla="*/ 450057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9749 h 1809749"/>
              <a:gd name="connsiteX1" fmla="*/ 0 w 3574257"/>
              <a:gd name="connsiteY1" fmla="*/ 2381 h 1809749"/>
              <a:gd name="connsiteX2" fmla="*/ 2038351 w 3574257"/>
              <a:gd name="connsiteY2" fmla="*/ 0 h 1809749"/>
              <a:gd name="connsiteX3" fmla="*/ 3574257 w 3574257"/>
              <a:gd name="connsiteY3" fmla="*/ 1809749 h 1809749"/>
              <a:gd name="connsiteX4" fmla="*/ 2382 w 3574257"/>
              <a:gd name="connsiteY4" fmla="*/ 1809749 h 1809749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657351 w 3574257"/>
              <a:gd name="connsiteY2" fmla="*/ 2309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0732 w 3574257"/>
              <a:gd name="connsiteY2" fmla="*/ 238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774032 w 3574257"/>
              <a:gd name="connsiteY2" fmla="*/ 161925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969294 w 3574257"/>
              <a:gd name="connsiteY2" fmla="*/ 21432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1819275 w 3574257"/>
              <a:gd name="connsiteY2" fmla="*/ 200026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  <a:gd name="connsiteX0" fmla="*/ 2382 w 3574257"/>
              <a:gd name="connsiteY0" fmla="*/ 1807368 h 1807368"/>
              <a:gd name="connsiteX1" fmla="*/ 0 w 3574257"/>
              <a:gd name="connsiteY1" fmla="*/ 0 h 1807368"/>
              <a:gd name="connsiteX2" fmla="*/ 2045494 w 3574257"/>
              <a:gd name="connsiteY2" fmla="*/ 1 h 1807368"/>
              <a:gd name="connsiteX3" fmla="*/ 3574257 w 3574257"/>
              <a:gd name="connsiteY3" fmla="*/ 1807368 h 1807368"/>
              <a:gd name="connsiteX4" fmla="*/ 2382 w 3574257"/>
              <a:gd name="connsiteY4" fmla="*/ 1807368 h 1807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74257" h="1807368">
                <a:moveTo>
                  <a:pt x="2382" y="1807368"/>
                </a:moveTo>
                <a:lnTo>
                  <a:pt x="0" y="0"/>
                </a:lnTo>
                <a:lnTo>
                  <a:pt x="2045494" y="1"/>
                </a:lnTo>
                <a:lnTo>
                  <a:pt x="3574257" y="1807368"/>
                </a:lnTo>
                <a:lnTo>
                  <a:pt x="2382" y="1807368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reeform 7"/>
          <p:cNvSpPr/>
          <p:nvPr/>
        </p:nvSpPr>
        <p:spPr>
          <a:xfrm>
            <a:off x="-2380" y="5051292"/>
            <a:ext cx="9146380" cy="1806709"/>
          </a:xfrm>
          <a:custGeom>
            <a:avLst/>
            <a:gdLst>
              <a:gd name="connsiteX0" fmla="*/ 0 w 3350419"/>
              <a:gd name="connsiteY0" fmla="*/ 2081213 h 2083594"/>
              <a:gd name="connsiteX1" fmla="*/ 3031331 w 3350419"/>
              <a:gd name="connsiteY1" fmla="*/ 0 h 2083594"/>
              <a:gd name="connsiteX2" fmla="*/ 3350419 w 3350419"/>
              <a:gd name="connsiteY2" fmla="*/ 80963 h 2083594"/>
              <a:gd name="connsiteX3" fmla="*/ 3350419 w 3350419"/>
              <a:gd name="connsiteY3" fmla="*/ 2083594 h 2083594"/>
              <a:gd name="connsiteX4" fmla="*/ 0 w 3350419"/>
              <a:gd name="connsiteY4" fmla="*/ 2081213 h 2083594"/>
              <a:gd name="connsiteX0" fmla="*/ 0 w 3112294"/>
              <a:gd name="connsiteY0" fmla="*/ 2019301 h 2083594"/>
              <a:gd name="connsiteX1" fmla="*/ 2793206 w 3112294"/>
              <a:gd name="connsiteY1" fmla="*/ 0 h 2083594"/>
              <a:gd name="connsiteX2" fmla="*/ 3112294 w 3112294"/>
              <a:gd name="connsiteY2" fmla="*/ 80963 h 2083594"/>
              <a:gd name="connsiteX3" fmla="*/ 3112294 w 3112294"/>
              <a:gd name="connsiteY3" fmla="*/ 2083594 h 2083594"/>
              <a:gd name="connsiteX4" fmla="*/ 0 w 3112294"/>
              <a:gd name="connsiteY4" fmla="*/ 2019301 h 2083594"/>
              <a:gd name="connsiteX0" fmla="*/ 0 w 3345656"/>
              <a:gd name="connsiteY0" fmla="*/ 2097882 h 2097882"/>
              <a:gd name="connsiteX1" fmla="*/ 3026568 w 3345656"/>
              <a:gd name="connsiteY1" fmla="*/ 0 h 2097882"/>
              <a:gd name="connsiteX2" fmla="*/ 3345656 w 3345656"/>
              <a:gd name="connsiteY2" fmla="*/ 80963 h 2097882"/>
              <a:gd name="connsiteX3" fmla="*/ 3345656 w 3345656"/>
              <a:gd name="connsiteY3" fmla="*/ 2083594 h 2097882"/>
              <a:gd name="connsiteX4" fmla="*/ 0 w 3345656"/>
              <a:gd name="connsiteY4" fmla="*/ 2097882 h 2097882"/>
              <a:gd name="connsiteX0" fmla="*/ 0 w 2800350"/>
              <a:gd name="connsiteY0" fmla="*/ 1935957 h 2083594"/>
              <a:gd name="connsiteX1" fmla="*/ 2481262 w 2800350"/>
              <a:gd name="connsiteY1" fmla="*/ 0 h 2083594"/>
              <a:gd name="connsiteX2" fmla="*/ 2800350 w 2800350"/>
              <a:gd name="connsiteY2" fmla="*/ 80963 h 2083594"/>
              <a:gd name="connsiteX3" fmla="*/ 2800350 w 2800350"/>
              <a:gd name="connsiteY3" fmla="*/ 2083594 h 2083594"/>
              <a:gd name="connsiteX4" fmla="*/ 0 w 2800350"/>
              <a:gd name="connsiteY4" fmla="*/ 1935957 h 2083594"/>
              <a:gd name="connsiteX0" fmla="*/ 0 w 3352800"/>
              <a:gd name="connsiteY0" fmla="*/ 2083594 h 2083594"/>
              <a:gd name="connsiteX1" fmla="*/ 3033712 w 3352800"/>
              <a:gd name="connsiteY1" fmla="*/ 0 h 2083594"/>
              <a:gd name="connsiteX2" fmla="*/ 3352800 w 3352800"/>
              <a:gd name="connsiteY2" fmla="*/ 80963 h 2083594"/>
              <a:gd name="connsiteX3" fmla="*/ 3352800 w 3352800"/>
              <a:gd name="connsiteY3" fmla="*/ 2083594 h 2083594"/>
              <a:gd name="connsiteX4" fmla="*/ 0 w 3352800"/>
              <a:gd name="connsiteY4" fmla="*/ 2083594 h 2083594"/>
              <a:gd name="connsiteX0" fmla="*/ 0 w 3352800"/>
              <a:gd name="connsiteY0" fmla="*/ 2002631 h 2002631"/>
              <a:gd name="connsiteX1" fmla="*/ 3033712 w 3352800"/>
              <a:gd name="connsiteY1" fmla="*/ 15716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988469 w 3352800"/>
              <a:gd name="connsiteY1" fmla="*/ 59530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3966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45314 w 3352800"/>
              <a:gd name="connsiteY1" fmla="*/ 1224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34839 w 3352800"/>
              <a:gd name="connsiteY1" fmla="*/ 425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631 h 2002631"/>
              <a:gd name="connsiteX1" fmla="*/ 2875865 w 3352800"/>
              <a:gd name="connsiteY1" fmla="*/ 81782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2002901 h 2002901"/>
              <a:gd name="connsiteX1" fmla="*/ 2836585 w 3352800"/>
              <a:gd name="connsiteY1" fmla="*/ 0 h 2002901"/>
              <a:gd name="connsiteX2" fmla="*/ 3352800 w 3352800"/>
              <a:gd name="connsiteY2" fmla="*/ 270 h 2002901"/>
              <a:gd name="connsiteX3" fmla="*/ 3352800 w 3352800"/>
              <a:gd name="connsiteY3" fmla="*/ 2002901 h 2002901"/>
              <a:gd name="connsiteX4" fmla="*/ 0 w 3352800"/>
              <a:gd name="connsiteY4" fmla="*/ 2002901 h 2002901"/>
              <a:gd name="connsiteX0" fmla="*/ 0 w 3352800"/>
              <a:gd name="connsiteY0" fmla="*/ 2002631 h 2002631"/>
              <a:gd name="connsiteX1" fmla="*/ 754045 w 3352800"/>
              <a:gd name="connsiteY1" fmla="*/ 1468326 h 2002631"/>
              <a:gd name="connsiteX2" fmla="*/ 3352800 w 3352800"/>
              <a:gd name="connsiteY2" fmla="*/ 0 h 2002631"/>
              <a:gd name="connsiteX3" fmla="*/ 3352800 w 3352800"/>
              <a:gd name="connsiteY3" fmla="*/ 2002631 h 2002631"/>
              <a:gd name="connsiteX4" fmla="*/ 0 w 3352800"/>
              <a:gd name="connsiteY4" fmla="*/ 2002631 h 2002631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34305 h 534305"/>
              <a:gd name="connsiteX1" fmla="*/ 754045 w 3352800"/>
              <a:gd name="connsiteY1" fmla="*/ 0 h 534305"/>
              <a:gd name="connsiteX2" fmla="*/ 3352800 w 3352800"/>
              <a:gd name="connsiteY2" fmla="*/ 7687 h 534305"/>
              <a:gd name="connsiteX3" fmla="*/ 3352800 w 3352800"/>
              <a:gd name="connsiteY3" fmla="*/ 534305 h 534305"/>
              <a:gd name="connsiteX4" fmla="*/ 0 w 3352800"/>
              <a:gd name="connsiteY4" fmla="*/ 534305 h 534305"/>
              <a:gd name="connsiteX0" fmla="*/ 0 w 3352800"/>
              <a:gd name="connsiteY0" fmla="*/ 526618 h 526618"/>
              <a:gd name="connsiteX1" fmla="*/ 980611 w 3352800"/>
              <a:gd name="connsiteY1" fmla="*/ 9368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6888 h 526888"/>
              <a:gd name="connsiteX1" fmla="*/ 744735 w 3352800"/>
              <a:gd name="connsiteY1" fmla="*/ 0 h 526888"/>
              <a:gd name="connsiteX2" fmla="*/ 3352800 w 3352800"/>
              <a:gd name="connsiteY2" fmla="*/ 270 h 526888"/>
              <a:gd name="connsiteX3" fmla="*/ 3352800 w 3352800"/>
              <a:gd name="connsiteY3" fmla="*/ 526888 h 526888"/>
              <a:gd name="connsiteX4" fmla="*/ 0 w 3352800"/>
              <a:gd name="connsiteY4" fmla="*/ 526888 h 526888"/>
              <a:gd name="connsiteX0" fmla="*/ 0 w 3352800"/>
              <a:gd name="connsiteY0" fmla="*/ 526618 h 526618"/>
              <a:gd name="connsiteX1" fmla="*/ 811948 w 3352800"/>
              <a:gd name="connsiteY1" fmla="*/ 60921 h 526618"/>
              <a:gd name="connsiteX2" fmla="*/ 3352800 w 3352800"/>
              <a:gd name="connsiteY2" fmla="*/ 0 h 526618"/>
              <a:gd name="connsiteX3" fmla="*/ 3352800 w 3352800"/>
              <a:gd name="connsiteY3" fmla="*/ 526618 h 526618"/>
              <a:gd name="connsiteX4" fmla="*/ 0 w 3352800"/>
              <a:gd name="connsiteY4" fmla="*/ 526618 h 526618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966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241069 w 3352800"/>
              <a:gd name="connsiteY2" fmla="*/ 94144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584 h 527584"/>
              <a:gd name="connsiteX1" fmla="*/ 751718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  <a:gd name="connsiteX0" fmla="*/ 0 w 3352800"/>
              <a:gd name="connsiteY0" fmla="*/ 527313 h 527313"/>
              <a:gd name="connsiteX1" fmla="*/ 900984 w 3352800"/>
              <a:gd name="connsiteY1" fmla="*/ 97774 h 527313"/>
              <a:gd name="connsiteX2" fmla="*/ 3352800 w 3352800"/>
              <a:gd name="connsiteY2" fmla="*/ 0 h 527313"/>
              <a:gd name="connsiteX3" fmla="*/ 3352800 w 3352800"/>
              <a:gd name="connsiteY3" fmla="*/ 527313 h 527313"/>
              <a:gd name="connsiteX4" fmla="*/ 0 w 3352800"/>
              <a:gd name="connsiteY4" fmla="*/ 527313 h 527313"/>
              <a:gd name="connsiteX0" fmla="*/ 0 w 3352800"/>
              <a:gd name="connsiteY0" fmla="*/ 527584 h 527584"/>
              <a:gd name="connsiteX1" fmla="*/ 748227 w 3352800"/>
              <a:gd name="connsiteY1" fmla="*/ 0 h 527584"/>
              <a:gd name="connsiteX2" fmla="*/ 3352800 w 3352800"/>
              <a:gd name="connsiteY2" fmla="*/ 271 h 527584"/>
              <a:gd name="connsiteX3" fmla="*/ 3352800 w 3352800"/>
              <a:gd name="connsiteY3" fmla="*/ 527584 h 527584"/>
              <a:gd name="connsiteX4" fmla="*/ 0 w 3352800"/>
              <a:gd name="connsiteY4" fmla="*/ 527584 h 5275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52800" h="527584">
                <a:moveTo>
                  <a:pt x="0" y="527584"/>
                </a:moveTo>
                <a:lnTo>
                  <a:pt x="748227" y="0"/>
                </a:lnTo>
                <a:lnTo>
                  <a:pt x="3352800" y="271"/>
                </a:lnTo>
                <a:lnTo>
                  <a:pt x="3352800" y="527584"/>
                </a:lnTo>
                <a:lnTo>
                  <a:pt x="0" y="527584"/>
                </a:lnTo>
                <a:close/>
              </a:path>
            </a:pathLst>
          </a:custGeom>
          <a:solidFill>
            <a:schemeClr val="accent3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365760"/>
            <a:ext cx="7520940" cy="54864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100628"/>
            <a:ext cx="7520940" cy="35798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9140000">
            <a:off x="201168" y="5870448"/>
            <a:ext cx="2176272" cy="2011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490BCFBD-2A53-4419-941E-88141ACE83C9}" type="datetimeFigureOut">
              <a:rPr lang="zh-CN" altLang="en-US" smtClean="0"/>
              <a:pPr/>
              <a:t>2018/11/14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7514" y="6285122"/>
            <a:ext cx="4724400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spc="200" baseline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01038" y="6170822"/>
            <a:ext cx="502920" cy="502920"/>
          </a:xfrm>
          <a:prstGeom prst="ellipse">
            <a:avLst/>
          </a:prstGeom>
          <a:ln w="19050">
            <a:solidFill>
              <a:srgbClr val="FFFFFF"/>
            </a:solidFill>
          </a:ln>
        </p:spPr>
        <p:txBody>
          <a:bodyPr vert="horz" lIns="9144" tIns="9144" rIns="9144" bIns="9144" rtlCol="0" anchor="ctr">
            <a:normAutofit/>
          </a:bodyPr>
          <a:lstStyle>
            <a:lvl1pPr algn="ctr">
              <a:defRPr sz="1650">
                <a:solidFill>
                  <a:srgbClr val="FFFFFF"/>
                </a:solidFill>
              </a:defRPr>
            </a:lvl1pPr>
          </a:lstStyle>
          <a:p>
            <a:fld id="{14DA9AC5-A42F-4468-B93A-7A8580C78E5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ransition spd="slow">
    <p:fade/>
  </p:transition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spcBef>
          <a:spcPct val="0"/>
        </a:spcBef>
        <a:buNone/>
        <a:defRPr sz="28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ts val="800"/>
        </a:spcBef>
        <a:buFont typeface="Arial" pitchFamily="34" charset="0"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1737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4023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30936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859536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73736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3533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581912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792224" indent="-164592" algn="l" defTabSz="914400" rtl="0" eaLnBrk="1" latinLnBrk="0" hangingPunct="1">
        <a:spcBef>
          <a:spcPts val="300"/>
        </a:spcBef>
        <a:buClr>
          <a:schemeClr val="accent2"/>
        </a:buClr>
        <a:buFont typeface="Wingdings" pitchFamily="2" charset="2"/>
        <a:buChar char="§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jpkc.swpu.edu.cn/" TargetMode="External"/><Relationship Id="rId2" Type="http://schemas.openxmlformats.org/officeDocument/2006/relationships/hyperlink" Target="http://172.23.253.55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172.16.51.200/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sz="4400" b="1" dirty="0" smtClean="0"/>
              <a:t>大学计算机基础</a:t>
            </a:r>
            <a:endParaRPr lang="zh-CN" altLang="en-US" sz="4400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b="1" dirty="0" smtClean="0">
                <a:latin typeface="微软雅黑" pitchFamily="34" charset="-122"/>
                <a:ea typeface="微软雅黑" pitchFamily="34" charset="-122"/>
              </a:rPr>
              <a:t>西南石油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大学</a:t>
            </a:r>
            <a:r>
              <a:rPr lang="zh-CN" altLang="en-US" b="1" smtClean="0">
                <a:latin typeface="微软雅黑" pitchFamily="34" charset="-122"/>
                <a:ea typeface="微软雅黑" pitchFamily="34" charset="-122"/>
              </a:rPr>
              <a:t>计算机科学学院</a:t>
            </a:r>
            <a:endParaRPr lang="zh-CN" altLang="en-US" b="1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2218928" cy="2231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9181677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课程基本信息</a:t>
            </a:r>
            <a:endParaRPr lang="zh-CN" altLang="en-US" sz="3600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400" b="0" dirty="0">
                <a:latin typeface="宋体" pitchFamily="2" charset="-122"/>
                <a:ea typeface="宋体" pitchFamily="2" charset="-122"/>
              </a:rPr>
              <a:t>学时数：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40</a:t>
            </a:r>
            <a:r>
              <a:rPr lang="zh-CN" altLang="en-US" sz="2400" b="0" dirty="0">
                <a:latin typeface="宋体" pitchFamily="2" charset="-122"/>
                <a:ea typeface="宋体" pitchFamily="2" charset="-122"/>
              </a:rPr>
              <a:t>（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20+16</a:t>
            </a:r>
            <a:r>
              <a:rPr lang="zh-CN" altLang="en-US" sz="2400" b="0" dirty="0" smtClean="0">
                <a:latin typeface="宋体" pitchFamily="2" charset="-122"/>
                <a:ea typeface="宋体" pitchFamily="2" charset="-122"/>
              </a:rPr>
              <a:t>）</a:t>
            </a:r>
            <a:endParaRPr lang="en-US" altLang="zh-CN" sz="2400" b="0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b="0" dirty="0" smtClean="0">
                <a:latin typeface="宋体" pitchFamily="2" charset="-122"/>
                <a:ea typeface="宋体" pitchFamily="2" charset="-122"/>
              </a:rPr>
              <a:t>学  </a:t>
            </a:r>
            <a:r>
              <a:rPr lang="zh-CN" altLang="en-US" sz="2400" b="0" dirty="0">
                <a:latin typeface="宋体" pitchFamily="2" charset="-122"/>
                <a:ea typeface="宋体" pitchFamily="2" charset="-122"/>
              </a:rPr>
              <a:t>分：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3 </a:t>
            </a:r>
            <a:endParaRPr lang="en-US" altLang="zh-CN" sz="2400" b="0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b="0" dirty="0" smtClean="0">
                <a:latin typeface="宋体" pitchFamily="2" charset="-122"/>
                <a:ea typeface="宋体" pitchFamily="2" charset="-122"/>
              </a:rPr>
              <a:t>教  材：</a:t>
            </a:r>
            <a:endParaRPr lang="en-US" altLang="zh-CN" sz="2400" b="0" dirty="0" smtClean="0"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b="0" dirty="0" smtClean="0">
                <a:latin typeface="宋体" pitchFamily="2" charset="-122"/>
                <a:ea typeface="宋体" pitchFamily="2" charset="-122"/>
              </a:rPr>
              <a:t>《</a:t>
            </a:r>
            <a:r>
              <a:rPr lang="zh-CN" altLang="en-US" sz="2400" b="0" dirty="0">
                <a:latin typeface="宋体" pitchFamily="2" charset="-122"/>
                <a:ea typeface="宋体" pitchFamily="2" charset="-122"/>
              </a:rPr>
              <a:t>大学计算机基础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》</a:t>
            </a:r>
            <a:r>
              <a:rPr lang="zh-CN" altLang="en-US" sz="2400" b="0" dirty="0">
                <a:latin typeface="宋体" pitchFamily="2" charset="-122"/>
                <a:ea typeface="宋体" pitchFamily="2" charset="-122"/>
              </a:rPr>
              <a:t>，孙淑霞等，</a:t>
            </a:r>
            <a:r>
              <a:rPr lang="zh-CN" altLang="en-US" sz="2400" b="0" dirty="0" smtClean="0">
                <a:latin typeface="宋体" pitchFamily="2" charset="-122"/>
                <a:ea typeface="宋体" pitchFamily="2" charset="-122"/>
              </a:rPr>
              <a:t>高等教育出版社 </a:t>
            </a:r>
            <a:endParaRPr lang="en-US" altLang="zh-CN" sz="2400" b="0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b="0" dirty="0" smtClean="0">
                <a:latin typeface="宋体" pitchFamily="2" charset="-122"/>
                <a:ea typeface="宋体" pitchFamily="2" charset="-122"/>
              </a:rPr>
              <a:t>参考书：</a:t>
            </a:r>
            <a:endParaRPr lang="en-US" altLang="zh-CN" sz="2400" b="0" dirty="0" smtClean="0"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b="0" dirty="0" smtClean="0">
                <a:latin typeface="宋体" pitchFamily="2" charset="-122"/>
                <a:ea typeface="宋体" pitchFamily="2" charset="-122"/>
              </a:rPr>
              <a:t>《</a:t>
            </a:r>
            <a:r>
              <a:rPr lang="zh-CN" altLang="en-US" sz="2400" b="0" dirty="0">
                <a:latin typeface="宋体" pitchFamily="2" charset="-122"/>
                <a:ea typeface="宋体" pitchFamily="2" charset="-122"/>
              </a:rPr>
              <a:t>计算机科学基础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》</a:t>
            </a:r>
            <a:r>
              <a:rPr lang="zh-CN" altLang="en-US" sz="2400" b="0" dirty="0">
                <a:latin typeface="宋体" pitchFamily="2" charset="-122"/>
                <a:ea typeface="宋体" pitchFamily="2" charset="-122"/>
              </a:rPr>
              <a:t>，陆汉权，电子工业出版社 </a:t>
            </a:r>
            <a:endParaRPr lang="en-US" altLang="zh-CN" sz="2400" b="0" dirty="0" smtClean="0"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b="0" dirty="0" smtClean="0">
                <a:latin typeface="宋体" pitchFamily="2" charset="-122"/>
                <a:ea typeface="宋体" pitchFamily="2" charset="-122"/>
              </a:rPr>
              <a:t>《</a:t>
            </a:r>
            <a:r>
              <a:rPr lang="zh-CN" altLang="en-US" sz="2400" b="0" dirty="0">
                <a:latin typeface="宋体" pitchFamily="2" charset="-122"/>
                <a:ea typeface="宋体" pitchFamily="2" charset="-122"/>
              </a:rPr>
              <a:t>大学计算机基础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》</a:t>
            </a:r>
            <a:r>
              <a:rPr lang="zh-CN" altLang="en-US" sz="2400" b="0" dirty="0">
                <a:latin typeface="宋体" pitchFamily="2" charset="-122"/>
                <a:ea typeface="宋体" pitchFamily="2" charset="-122"/>
              </a:rPr>
              <a:t>，龚沛曾等，高等教育</a:t>
            </a:r>
            <a:r>
              <a:rPr lang="zh-CN" altLang="en-US" sz="2400" b="0" dirty="0" smtClean="0">
                <a:latin typeface="宋体" pitchFamily="2" charset="-122"/>
                <a:ea typeface="宋体" pitchFamily="2" charset="-122"/>
              </a:rPr>
              <a:t>出版</a:t>
            </a:r>
            <a:endParaRPr lang="en-US" altLang="zh-CN" sz="2400" b="0" dirty="0" smtClean="0"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b="0" dirty="0" smtClean="0">
                <a:latin typeface="宋体" pitchFamily="2" charset="-122"/>
                <a:ea typeface="宋体" pitchFamily="2" charset="-122"/>
              </a:rPr>
              <a:t>《</a:t>
            </a:r>
            <a:r>
              <a:rPr lang="zh-CN" altLang="en-US" sz="2400" b="0" dirty="0">
                <a:latin typeface="宋体" pitchFamily="2" charset="-122"/>
                <a:ea typeface="宋体" pitchFamily="2" charset="-122"/>
              </a:rPr>
              <a:t>计算机思维导论</a:t>
            </a:r>
            <a:r>
              <a:rPr lang="en-US" altLang="zh-CN" sz="2400" b="0" dirty="0">
                <a:latin typeface="宋体" pitchFamily="2" charset="-122"/>
                <a:ea typeface="宋体" pitchFamily="2" charset="-122"/>
              </a:rPr>
              <a:t>》</a:t>
            </a:r>
            <a:r>
              <a:rPr lang="zh-CN" altLang="en-US" sz="2400" b="0" dirty="0">
                <a:latin typeface="宋体" pitchFamily="2" charset="-122"/>
                <a:ea typeface="宋体" pitchFamily="2" charset="-122"/>
              </a:rPr>
              <a:t>，陈国良，高等教育出版社 </a:t>
            </a:r>
          </a:p>
        </p:txBody>
      </p:sp>
    </p:spTree>
    <p:extLst>
      <p:ext uri="{BB962C8B-B14F-4D97-AF65-F5344CB8AC3E}">
        <p14:creationId xmlns:p14="http://schemas.microsoft.com/office/powerpoint/2010/main" val="1211306395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上课模式</a:t>
            </a:r>
            <a:endParaRPr lang="zh-CN" altLang="en-US" sz="3600" dirty="0"/>
          </a:p>
        </p:txBody>
      </p:sp>
      <p:pic>
        <p:nvPicPr>
          <p:cNvPr id="1026" name="Picture 2" descr="C:\Users\暗影精灵4\AppData\Local\Microsoft\Windows\INetCache\IE\A6WHTSTW\250px-上课小动作[1]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2876" y="1032896"/>
            <a:ext cx="2381250" cy="18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暗影精灵4\AppData\Local\Microsoft\Windows\INetCache\IE\A6WHTSTW\4175734017_f201636292[1]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3356992"/>
            <a:ext cx="2310904" cy="1543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:\Users\暗影精灵4\AppData\Local\Microsoft\Windows\INetCache\IE\T1C24NVU\2589113447_b2ac8ff395[1]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2200" y="3503607"/>
            <a:ext cx="2526279" cy="1682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左右箭头 4"/>
          <p:cNvSpPr/>
          <p:nvPr/>
        </p:nvSpPr>
        <p:spPr>
          <a:xfrm>
            <a:off x="3563888" y="4005064"/>
            <a:ext cx="2021210" cy="792088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圆角右箭头 5"/>
          <p:cNvSpPr/>
          <p:nvPr/>
        </p:nvSpPr>
        <p:spPr>
          <a:xfrm>
            <a:off x="1259632" y="1412776"/>
            <a:ext cx="1518816" cy="144016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" name="直角上箭头 12"/>
          <p:cNvSpPr/>
          <p:nvPr/>
        </p:nvSpPr>
        <p:spPr>
          <a:xfrm rot="18060000">
            <a:off x="6691956" y="1653462"/>
            <a:ext cx="1412467" cy="1681468"/>
          </a:xfrm>
          <a:prstGeom prst="bent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4788024" y="620688"/>
            <a:ext cx="1800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隶书" pitchFamily="49" charset="-122"/>
                <a:ea typeface="隶书" pitchFamily="49" charset="-122"/>
              </a:rPr>
              <a:t>课后作业</a:t>
            </a:r>
            <a:endParaRPr lang="zh-CN" altLang="en-US" sz="2400" dirty="0"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987267" y="5186109"/>
            <a:ext cx="191121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 smtClean="0">
                <a:latin typeface="隶书" pitchFamily="49" charset="-122"/>
                <a:ea typeface="隶书" pitchFamily="49" charset="-122"/>
              </a:rPr>
              <a:t>机房实验</a:t>
            </a:r>
            <a:endParaRPr lang="zh-CN" altLang="en-US" sz="2400" dirty="0"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9205094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教学内容安排</a:t>
            </a:r>
            <a:endParaRPr lang="zh-CN" altLang="en-US" sz="3600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0536158"/>
              </p:ext>
            </p:extLst>
          </p:nvPr>
        </p:nvGraphicFramePr>
        <p:xfrm>
          <a:off x="1524000" y="1397000"/>
          <a:ext cx="5334000" cy="18987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/>
                <a:gridCol w="762000"/>
                <a:gridCol w="762000"/>
                <a:gridCol w="762000"/>
                <a:gridCol w="762000"/>
                <a:gridCol w="762000"/>
                <a:gridCol w="762000"/>
              </a:tblGrid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415424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78002244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3600" dirty="0" smtClean="0"/>
              <a:t>网络资源</a:t>
            </a:r>
            <a:endParaRPr lang="zh-CN" altLang="en-US" sz="3600" dirty="0"/>
          </a:p>
        </p:txBody>
      </p:sp>
      <p:sp>
        <p:nvSpPr>
          <p:cNvPr id="4" name="内容占位符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网上教学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互动社区 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dirty="0">
                <a:latin typeface="宋体" pitchFamily="2" charset="-122"/>
                <a:ea typeface="宋体" pitchFamily="2" charset="-122"/>
                <a:hlinkClick r:id="rId2"/>
              </a:rPr>
              <a:t>http://172.23.253.55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  <a:hlinkClick r:id="rId2"/>
              </a:rPr>
              <a:t>/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学校</a:t>
            </a:r>
            <a:r>
              <a:rPr lang="zh-CN" altLang="en-US" sz="2400" dirty="0">
                <a:latin typeface="宋体" pitchFamily="2" charset="-122"/>
                <a:ea typeface="宋体" pitchFamily="2" charset="-122"/>
              </a:rPr>
              <a:t>精品课程</a:t>
            </a:r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网站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dirty="0">
                <a:latin typeface="宋体" pitchFamily="2" charset="-122"/>
                <a:ea typeface="宋体" pitchFamily="2" charset="-122"/>
                <a:hlinkClick r:id="rId3"/>
              </a:rPr>
              <a:t>http://jpkc.swpu.edu.cn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  <a:hlinkClick r:id="rId3"/>
              </a:rPr>
              <a:t>/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r>
              <a:rPr lang="zh-CN" altLang="en-US" sz="2400" dirty="0" smtClean="0">
                <a:latin typeface="宋体" pitchFamily="2" charset="-122"/>
                <a:ea typeface="宋体" pitchFamily="2" charset="-122"/>
              </a:rPr>
              <a:t>在线测试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r>
              <a:rPr lang="en-US" altLang="zh-CN" sz="2400" dirty="0">
                <a:latin typeface="宋体" pitchFamily="2" charset="-122"/>
                <a:ea typeface="宋体" pitchFamily="2" charset="-122"/>
                <a:hlinkClick r:id="rId4"/>
              </a:rPr>
              <a:t>http://</a:t>
            </a:r>
            <a:r>
              <a:rPr lang="en-US" altLang="zh-CN" sz="2400" dirty="0" smtClean="0">
                <a:latin typeface="宋体" pitchFamily="2" charset="-122"/>
                <a:ea typeface="宋体" pitchFamily="2" charset="-122"/>
                <a:hlinkClick r:id="rId4"/>
              </a:rPr>
              <a:t>172.16.51.200</a:t>
            </a:r>
            <a:endParaRPr lang="en-US" altLang="zh-CN" sz="2400" dirty="0" smtClean="0">
              <a:latin typeface="宋体" pitchFamily="2" charset="-122"/>
              <a:ea typeface="宋体" pitchFamily="2" charset="-122"/>
            </a:endParaRPr>
          </a:p>
          <a:p>
            <a:endParaRPr lang="zh-CN" altLang="en-US" sz="2400" dirty="0">
              <a:latin typeface="宋体" pitchFamily="2" charset="-122"/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3451575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 rot="19140000">
            <a:off x="385838" y="1245781"/>
            <a:ext cx="5648623" cy="1204306"/>
          </a:xfrm>
        </p:spPr>
        <p:txBody>
          <a:bodyPr/>
          <a:lstStyle/>
          <a:p>
            <a:pPr algn="ctr"/>
            <a:r>
              <a:rPr lang="en-US" altLang="zh-CN" sz="4000" b="1" cap="none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Thank You </a:t>
            </a:r>
            <a:r>
              <a:rPr lang="zh-CN" altLang="en-US" sz="4000" b="1" cap="none" dirty="0" smtClean="0">
                <a:ln w="17780" cmpd="sng">
                  <a:solidFill>
                    <a:srgbClr val="FFFFFF"/>
                  </a:solidFill>
                  <a:prstDash val="solid"/>
                  <a:miter lim="800000"/>
                </a:ln>
                <a:gradFill rotWithShape="1">
                  <a:gsLst>
                    <a:gs pos="0">
                      <a:srgbClr val="000000">
                        <a:tint val="92000"/>
                        <a:shade val="100000"/>
                        <a:satMod val="150000"/>
                      </a:srgbClr>
                    </a:gs>
                    <a:gs pos="49000">
                      <a:srgbClr val="000000">
                        <a:tint val="89000"/>
                        <a:shade val="90000"/>
                        <a:satMod val="150000"/>
                      </a:srgbClr>
                    </a:gs>
                    <a:gs pos="50000">
                      <a:srgbClr val="000000">
                        <a:tint val="100000"/>
                        <a:shade val="75000"/>
                        <a:satMod val="150000"/>
                      </a:srgbClr>
                    </a:gs>
                    <a:gs pos="95000">
                      <a:srgbClr val="000000">
                        <a:shade val="47000"/>
                        <a:satMod val="150000"/>
                      </a:srgbClr>
                    </a:gs>
                    <a:gs pos="100000">
                      <a:srgbClr val="000000">
                        <a:shade val="39000"/>
                        <a:satMod val="150000"/>
                      </a:srgbClr>
                    </a:gs>
                  </a:gsLst>
                  <a:lin ang="5400000"/>
                </a:gradFill>
                <a:effectLst>
                  <a:outerShdw blurRad="50800" algn="tl" rotWithShape="0">
                    <a:srgbClr val="000000"/>
                  </a:outerShdw>
                </a:effectLst>
              </a:rPr>
              <a:t>！</a:t>
            </a:r>
            <a:endParaRPr lang="zh-CN" altLang="en-US" sz="4000" b="1" cap="none" dirty="0">
              <a:ln w="17780" cmpd="sng">
                <a:solidFill>
                  <a:srgbClr val="FFFFFF"/>
                </a:solidFill>
                <a:prstDash val="solid"/>
                <a:miter lim="800000"/>
              </a:ln>
              <a:gradFill rotWithShape="1">
                <a:gsLst>
                  <a:gs pos="0">
                    <a:srgbClr val="000000">
                      <a:tint val="92000"/>
                      <a:shade val="100000"/>
                      <a:satMod val="150000"/>
                    </a:srgbClr>
                  </a:gs>
                  <a:gs pos="49000">
                    <a:srgbClr val="000000">
                      <a:tint val="89000"/>
                      <a:shade val="90000"/>
                      <a:satMod val="150000"/>
                    </a:srgbClr>
                  </a:gs>
                  <a:gs pos="50000">
                    <a:srgbClr val="000000">
                      <a:tint val="100000"/>
                      <a:shade val="75000"/>
                      <a:satMod val="150000"/>
                    </a:srgbClr>
                  </a:gs>
                  <a:gs pos="95000">
                    <a:srgbClr val="000000">
                      <a:shade val="47000"/>
                      <a:satMod val="150000"/>
                    </a:srgbClr>
                  </a:gs>
                  <a:gs pos="100000">
                    <a:srgbClr val="000000">
                      <a:shade val="39000"/>
                      <a:satMod val="150000"/>
                    </a:srgbClr>
                  </a:gs>
                </a:gsLst>
                <a:lin ang="5400000"/>
              </a:gradFill>
              <a:effectLst>
                <a:outerShdw blurRad="50800" algn="tl" rotWithShape="0">
                  <a:srgbClr val="000000"/>
                </a:outerShdw>
              </a:effectLst>
            </a:endParaRPr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zh-CN" altLang="en-US" b="1" dirty="0" smtClean="0"/>
              <a:t>西南石油大学计算机科学学院</a:t>
            </a:r>
            <a:endParaRPr lang="zh-CN" altLang="en-US" b="1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16632"/>
            <a:ext cx="1567992" cy="157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77626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角度">
  <a:themeElements>
    <a:clrScheme name="666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0070C0"/>
      </a:hlink>
      <a:folHlink>
        <a:srgbClr val="00B0F0"/>
      </a:folHlink>
    </a:clrScheme>
    <a:fontScheme name="角度">
      <a:majorFont>
        <a:latin typeface="Franklin Gothic Medium"/>
        <a:ea typeface=""/>
        <a:cs typeface=""/>
        <a:font script="Jpan" typeface="HG創英角ｺﾞｼｯｸUB"/>
        <a:font script="Hang" typeface="돋움"/>
        <a:font script="Hans" typeface="微软雅黑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Jpan" typeface="ＭＳ Ｐゴシック"/>
        <a:font script="Hang" typeface="맑은 고딕"/>
        <a:font script="Hans" typeface="隶书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角度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20400000"/>
            </a:lightRig>
          </a:scene3d>
          <a:sp3d contourW="6350">
            <a:bevelT w="41275" h="19050" prst="angle"/>
            <a:contourClr>
              <a:schemeClr val="phClr">
                <a:shade val="25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90000"/>
                <a:shade val="85000"/>
              </a:schemeClr>
              <a:schemeClr val="phClr">
                <a:tint val="95000"/>
                <a:shade val="99000"/>
              </a:schemeClr>
            </a:duotone>
          </a:blip>
          <a:tile tx="0" ty="0" sx="100000" sy="100000" flip="none" algn="tl"/>
        </a:blipFill>
        <a:blipFill rotWithShape="1">
          <a:blip xmlns:r="http://schemas.openxmlformats.org/officeDocument/2006/relationships" r:embed="rId2">
            <a:duotone>
              <a:schemeClr val="phClr">
                <a:tint val="93000"/>
                <a:shade val="85000"/>
              </a:schemeClr>
              <a:schemeClr val="phClr">
                <a:tint val="96000"/>
                <a:shade val="99000"/>
              </a:schemeClr>
            </a:duotone>
          </a:blip>
          <a:tile tx="0" ty="0" sx="90000" sy="9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Angles</Template>
  <TotalTime>461</TotalTime>
  <Words>110</Words>
  <Application>Microsoft Office PowerPoint</Application>
  <PresentationFormat>全屏显示(4:3)</PresentationFormat>
  <Paragraphs>24</Paragraphs>
  <Slides>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7" baseType="lpstr">
      <vt:lpstr>角度</vt:lpstr>
      <vt:lpstr>大学计算机基础</vt:lpstr>
      <vt:lpstr>课程基本信息</vt:lpstr>
      <vt:lpstr>上课模式</vt:lpstr>
      <vt:lpstr>教学内容安排</vt:lpstr>
      <vt:lpstr>网络资源</vt:lpstr>
      <vt:lpstr>Thank You ！</vt:lpstr>
    </vt:vector>
  </TitlesOfParts>
  <Company>微软中国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微软用户</dc:creator>
  <cp:lastModifiedBy>HP</cp:lastModifiedBy>
  <cp:revision>76</cp:revision>
  <dcterms:created xsi:type="dcterms:W3CDTF">2013-05-07T09:56:50Z</dcterms:created>
  <dcterms:modified xsi:type="dcterms:W3CDTF">2018-11-14T14:55:46Z</dcterms:modified>
</cp:coreProperties>
</file>